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706d4a6-83e7-dac3-2302-77154254edfe}">
          <p14:sldIdLst>
            <p14:sldId id="256"/>
            <p14:sldId id="257"/>
            <p14:sldId id="258"/>
            <p14:sldId id="259"/>
          </p14:sldIdLst>
        </p14:section>
        <p14:section name="PART 1 음악" id="{2af2f551-bf33-2909-2c5c-db8d01e909b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T 2 영상" id="{6d558eb8-aab2-72be-da94-92df0d1e3448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마무리" id="{5aae659f-6547-b788-34ba-62249fc4d1e9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강사 소개. 오늘 두 시간 동안 AI로 직접 노래를 만들고, 그 노래에 어울리는 영상을 만들어 30초~1분짜리 뮤직비디오를 완성한다고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흐름 안내. 14:20~16:10, 중간에 10분 쉬는 시간. 마지막에 작품을 함께 감상하니 저장을 꼭 해두라고 미리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생성형 AI의 원리를 '입력-처리-출력'으로 간단히 설명합니다. 오늘 수업의 핵심 역량은 '원하는 것을 구체적으로 말하는 능력', 즉 프롬프트 작성이라는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체험이 학과체험 프로그램이므로, 실제 진학·진로와 연결합니다. 요즘은 어느 분야든 AI 도구를 다룰 줄 아는 능력이 기본 역량이 되고 있다는 점을 언급합니다.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시작. 작곡을 몰라도, 악기를 못 다뤄도 오늘은 모두 작곡가가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도구를 소개하고, 오늘은 Suno를 중심으로 실습한다고 안내합니다. 수업 전 계정·무료 크레딧·접속 가능 여부를 반드시 미리 확인하세요. 학생 계정이 어려우면 강사 계정으로 시연 후 모둠별로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6가지 요소를 조합하면 원하는 노래에 가까워집니다. 학생들에게 좋아하는 노래 한 곡을 떠올리고 그 노래를 6요소로 분해해 보게 하면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프롬프트로 실제 생성한 결과를 들려주면 효과가 큽니다(사전에 생성해 두기 권장). '구체적일수록 좋다'를 귀로 체감하게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Suno의 커스텀 모드에서는 가사 칸에 구조 태그를 함께 넣으면 노래의 흐름이 안정됩니다. 왼쪽 가사는 예시이며, 학생들은 자신의 이야기로 4~8줄을 써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25분. 순회하며 막힌 학생을 돕고, 생성 횟수 제한을 고려해 '한 번에 신중하게' 생성하도록 안내합니다. 저장 파일명은 '학번_이름_노래제목'으로 통일하면 발표 때 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쉬는 시간 후 PART 2 시작. 방금 만든 노래를 다시 한 번 들으며 어떤 장면이 떠오르는지 떠올려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생성(2단계)은 무료 크레딧이 적고 시간이 걸리므로, 1~2개 클립만 생성하고 나머지는 이미지에 움직임 효과를 주는 방식을 권합니다. Vrew는 음성·가사에서 자막을 자동으로 뽑아 줘서 가사 자막에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음악 프롬프트와 마찬가지로 요소를 쪼개서 쓰면 됩니다. 영상은 특히 '카메라 시점'과 '동작'이 결과를 크게 좌우합니다. 영문 프롬프트가 더 잘 되는 도구도 있으니 번역기를 활용해도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바로 영상을 만들기보다 활동지나 종이에 4컷 스토리보드를 먼저 그리게 합니다(3~5분). 시간 구간은 1분짜리 곡 기준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CapCut의 '비트' 기능(자동 비트 마커)을 시연하면 학생들 반응이 좋습니다. 자동 자막은 노래 가사 인식이 부정확할 수 있으니 직접 입력하거나 수정하게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30분. 20분이 지나면 '이제 자막과 내보내기 단계로 넘어가세요'라고 안내해 시간 내 완성하도록 합니다. 공유 폴더(구글 드라이브, 패들렛 등)는 사전에 준비해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딥페이크(실존 인물 얼굴·목소리 합성)는 장난이라도 처벌될 수 있는 범죄임을 분명히 안내합니다. AI 도구를 '책임감 있게' 쓰는 것도 콘텐츠 제작자의 역량입니다.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허락하는 만큼(3~5편) 작품을 함께 감상합니다. 지원자 위주로 발표하고, 감상 후 '칭찬 1 + 제안 1' 형식으로 짧게 피드백합니다.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뮤직비디오는 그 자체로 작은 포트폴리오가 될 수 있습니다. 관심이 생긴 학생은 동아리·공모전으로 경험을 이어가도록 격려합니다.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소감을 한두 명에게 들어 보고 마무리합니다. 완성 작품은 공유 폴더에 업로드되었는지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콘텐츠 제작 학과체험 프로그램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AI로 만드는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나만의 뮤직비디오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AI 음악 생성 · 영상 편집 체험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2026. 10. 21.(수) 14:20 – 16:10</a:t>
            </a:r>
            <a:endParaRPr lang="en-US" sz="1500" dirty="0"/>
          </a:p>
        </p:txBody>
      </p:sp>
      <p:sp>
        <p:nvSpPr>
          <p:cNvPr id="6" name="equalizer bar 1"/>
          <p:cNvSpPr/>
          <p:nvPr/>
        </p:nvSpPr>
        <p:spPr>
          <a:xfrm>
            <a:off x="8138160" y="4389120"/>
            <a:ext cx="329184" cy="10972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7" name="equalizer bar 2"/>
          <p:cNvSpPr/>
          <p:nvPr/>
        </p:nvSpPr>
        <p:spPr>
          <a:xfrm>
            <a:off x="8595360" y="3291840"/>
            <a:ext cx="329184" cy="219456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8" name="equalizer bar 3"/>
          <p:cNvSpPr/>
          <p:nvPr/>
        </p:nvSpPr>
        <p:spPr>
          <a:xfrm>
            <a:off x="9052560" y="2194560"/>
            <a:ext cx="329184" cy="32918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9" name="equalizer bar 4"/>
          <p:cNvSpPr/>
          <p:nvPr/>
        </p:nvSpPr>
        <p:spPr>
          <a:xfrm>
            <a:off x="9509760" y="3657600"/>
            <a:ext cx="329184" cy="182880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10" name="equalizer bar 5"/>
          <p:cNvSpPr/>
          <p:nvPr/>
        </p:nvSpPr>
        <p:spPr>
          <a:xfrm>
            <a:off x="9966960" y="1645920"/>
            <a:ext cx="329184" cy="3840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1" name="equalizer bar 6"/>
          <p:cNvSpPr/>
          <p:nvPr/>
        </p:nvSpPr>
        <p:spPr>
          <a:xfrm>
            <a:off x="10424160" y="2743200"/>
            <a:ext cx="329184" cy="274320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2" name="equalizer bar 7"/>
          <p:cNvSpPr/>
          <p:nvPr/>
        </p:nvSpPr>
        <p:spPr>
          <a:xfrm>
            <a:off x="10881360" y="4023360"/>
            <a:ext cx="329184" cy="14630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3" name="equalizer bar 8"/>
          <p:cNvSpPr/>
          <p:nvPr/>
        </p:nvSpPr>
        <p:spPr>
          <a:xfrm>
            <a:off x="11338560" y="3108960"/>
            <a:ext cx="329184" cy="23774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오늘의 여정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1463040" y="2057400"/>
            <a:ext cx="92354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4" name="도입 circle"/>
          <p:cNvSpPr/>
          <p:nvPr/>
        </p:nvSpPr>
        <p:spPr>
          <a:xfrm>
            <a:off x="1115568" y="160020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도입" descr="도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14:20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도입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콘텐츠와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관련 학과 알아보기</a:t>
            </a:r>
            <a:endParaRPr lang="en-US" sz="1400" dirty="0"/>
          </a:p>
        </p:txBody>
      </p:sp>
      <p:sp>
        <p:nvSpPr>
          <p:cNvPr id="9" name="PART 1 circle"/>
          <p:cNvSpPr/>
          <p:nvPr/>
        </p:nvSpPr>
        <p:spPr>
          <a:xfrm>
            <a:off x="3374136" y="16002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ART 1" descr="PART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379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07208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14:35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2807208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PART 1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807208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음악 만들기</a:t>
            </a:r>
            <a:endParaRPr lang="en-US" sz="1400" dirty="0"/>
          </a:p>
        </p:txBody>
      </p:sp>
      <p:sp>
        <p:nvSpPr>
          <p:cNvPr id="14" name="쉬는 시간 circle"/>
          <p:cNvSpPr/>
          <p:nvPr/>
        </p:nvSpPr>
        <p:spPr>
          <a:xfrm>
            <a:off x="5632704" y="16002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쉬는 시간" descr="쉬는 시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8379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65776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15:10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5065776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쉬는 시간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065776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10분 휴식</a:t>
            </a:r>
            <a:endParaRPr lang="en-US" sz="1400" dirty="0"/>
          </a:p>
        </p:txBody>
      </p:sp>
      <p:sp>
        <p:nvSpPr>
          <p:cNvPr id="19" name="PART 2 circle"/>
          <p:cNvSpPr/>
          <p:nvPr/>
        </p:nvSpPr>
        <p:spPr>
          <a:xfrm>
            <a:off x="7891272" y="16002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ART 2" descr="PART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83794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24344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15:20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324344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PART 2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24344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영상 만들기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·편집하기</a:t>
            </a:r>
            <a:endParaRPr lang="en-US" sz="1400" dirty="0"/>
          </a:p>
        </p:txBody>
      </p:sp>
      <p:sp>
        <p:nvSpPr>
          <p:cNvPr id="24" name="발표 circle"/>
          <p:cNvSpPr/>
          <p:nvPr/>
        </p:nvSpPr>
        <p:spPr>
          <a:xfrm>
            <a:off x="10149840" y="16002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발표" descr="발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1837944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2697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15:55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9582912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발표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582912" y="35204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작품 감상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·마무리</a:t>
            </a:r>
            <a:endParaRPr lang="en-US" sz="1400" dirty="0"/>
          </a:p>
        </p:txBody>
      </p:sp>
      <p:sp>
        <p:nvSpPr>
          <p:cNvPr id="29" name="goal box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0" name="goal circle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goal" descr="go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520750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737360" y="484632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오늘의 결과물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내가 만든 노래 + 내가 만든 영상 = 1분 내외의 나만의 뮤직비디오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생성형 AI는 어떻게 콘텐츠를 만들까?</a:t>
            </a:r>
            <a:endParaRPr lang="en-US" sz="3200" dirty="0"/>
          </a:p>
        </p:txBody>
      </p:sp>
      <p:sp>
        <p:nvSpPr>
          <p:cNvPr id="3" name="프롬프트 card"/>
          <p:cNvSpPr/>
          <p:nvPr/>
        </p:nvSpPr>
        <p:spPr>
          <a:xfrm>
            <a:off x="5486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프롬프트 circle"/>
          <p:cNvSpPr/>
          <p:nvPr/>
        </p:nvSpPr>
        <p:spPr>
          <a:xfrm>
            <a:off x="1737360" y="1783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프롬프트" descr="프롬프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입력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프롬프트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"비 오는 날 듣는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잔잔한 피아노곡"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931920" y="283464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AI 모델 card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AI 모델 circle"/>
          <p:cNvSpPr/>
          <p:nvPr/>
        </p:nvSpPr>
        <p:spPr>
          <a:xfrm>
            <a:off x="562356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I 모델" descr="AI 모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0208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처리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모델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수많은 음악·이미지·영상을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학습한 패턴으로 생성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7818120" y="283464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7" name="결과물 card"/>
          <p:cNvSpPr/>
          <p:nvPr/>
        </p:nvSpPr>
        <p:spPr>
          <a:xfrm>
            <a:off x="83210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8" name="결과물 circle"/>
          <p:cNvSpPr/>
          <p:nvPr/>
        </p:nvSpPr>
        <p:spPr>
          <a:xfrm>
            <a:off x="950976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결과물" descr="결과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202082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출력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결과물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657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 · 이미지 · 영상이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몇 초~몇 분 만에 완성</a:t>
            </a:r>
            <a:endParaRPr lang="en-US" sz="1400" dirty="0"/>
          </a:p>
        </p:txBody>
      </p:sp>
      <p:sp>
        <p:nvSpPr>
          <p:cNvPr id="23" name="key message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49377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핵심!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결과물의 품질은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프롬프트(명령어)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를 얼마나 구체적으로 쓰느냐에 달려 있어요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콘텐츠 제작, 어떤 학과와 직업으로 이어질까?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관련 학과</a:t>
            </a:r>
            <a:endParaRPr lang="en-US" sz="2000" dirty="0"/>
          </a:p>
        </p:txBody>
      </p:sp>
      <p:sp>
        <p:nvSpPr>
          <p:cNvPr id="4" name="major 1"/>
          <p:cNvSpPr/>
          <p:nvPr/>
        </p:nvSpPr>
        <p:spPr>
          <a:xfrm>
            <a:off x="548640" y="196596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미디어커뮤니케이션학과</a:t>
            </a:r>
            <a:endParaRPr lang="en-US" sz="1700" dirty="0"/>
          </a:p>
        </p:txBody>
      </p:sp>
      <p:sp>
        <p:nvSpPr>
          <p:cNvPr id="6" name="major 2"/>
          <p:cNvSpPr/>
          <p:nvPr/>
        </p:nvSpPr>
        <p:spPr>
          <a:xfrm>
            <a:off x="548640" y="292608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영상·방송영상학과</a:t>
            </a:r>
            <a:endParaRPr lang="en-US" sz="1700" dirty="0"/>
          </a:p>
        </p:txBody>
      </p:sp>
      <p:sp>
        <p:nvSpPr>
          <p:cNvPr id="8" name="major 3"/>
          <p:cNvSpPr/>
          <p:nvPr/>
        </p:nvSpPr>
        <p:spPr>
          <a:xfrm>
            <a:off x="548640" y="388620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86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실용음악·음악테크놀로지학과</a:t>
            </a:r>
            <a:endParaRPr lang="en-US" sz="1700" dirty="0"/>
          </a:p>
        </p:txBody>
      </p:sp>
      <p:sp>
        <p:nvSpPr>
          <p:cNvPr id="10" name="major 4"/>
          <p:cNvSpPr/>
          <p:nvPr/>
        </p:nvSpPr>
        <p:spPr>
          <a:xfrm>
            <a:off x="548640" y="4846320"/>
            <a:ext cx="51206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846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디지털콘텐츠·멀티미디어학과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관련 직업</a:t>
            </a:r>
            <a:endParaRPr lang="en-US" sz="2000" dirty="0"/>
          </a:p>
        </p:txBody>
      </p:sp>
      <p:sp>
        <p:nvSpPr>
          <p:cNvPr id="13" name="뮤직 프로듀서 circle"/>
          <p:cNvSpPr/>
          <p:nvPr/>
        </p:nvSpPr>
        <p:spPr>
          <a:xfrm>
            <a:off x="63093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뮤직 프로듀서" descr="뮤직 프로듀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7668" y="218998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178040" y="1965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뮤직 프로듀서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2350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곡을 기획하고 편곡·녹음을 총괄</a:t>
            </a:r>
            <a:endParaRPr lang="en-US" sz="1400" dirty="0"/>
          </a:p>
        </p:txBody>
      </p:sp>
      <p:sp>
        <p:nvSpPr>
          <p:cNvPr id="17" name="영상 편집자 · PD circle"/>
          <p:cNvSpPr/>
          <p:nvPr/>
        </p:nvSpPr>
        <p:spPr>
          <a:xfrm>
            <a:off x="6309360" y="2971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영상 편집자 · PD" descr="영상 편집자 · P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315010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2926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영상 편집자 · PD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310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촬영 영상을 이야기로 엮어 완성</a:t>
            </a:r>
            <a:endParaRPr lang="en-US" sz="1400" dirty="0"/>
          </a:p>
        </p:txBody>
      </p:sp>
      <p:sp>
        <p:nvSpPr>
          <p:cNvPr id="21" name="1인 크리에이터 circle"/>
          <p:cNvSpPr/>
          <p:nvPr/>
        </p:nvSpPr>
        <p:spPr>
          <a:xfrm>
            <a:off x="6309360" y="3931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1인 크리에이터" descr="1인 크리에이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68" y="411022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78040" y="38862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1인 크리에이터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7178040" y="4270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기획부터 촬영·편집·업로드까지</a:t>
            </a:r>
            <a:endParaRPr lang="en-US" sz="1400" dirty="0"/>
          </a:p>
        </p:txBody>
      </p:sp>
      <p:sp>
        <p:nvSpPr>
          <p:cNvPr id="25" name="AI 콘텐츠 기획자 circle"/>
          <p:cNvSpPr/>
          <p:nvPr/>
        </p:nvSpPr>
        <p:spPr>
          <a:xfrm>
            <a:off x="6309360" y="48920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AI 콘텐츠 기획자" descr="AI 콘텐츠 기획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507034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78040" y="4846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콘텐츠 기획자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178040" y="52303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도구를 활용해 새 콘텐츠 기획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PART 1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AI로 음악 만들기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가사 몇 줄로 노래 한 곡 완성하기</a:t>
            </a:r>
            <a:endParaRPr lang="en-US" sz="2000" dirty="0"/>
          </a:p>
        </p:txBody>
      </p:sp>
      <p:sp>
        <p:nvSpPr>
          <p:cNvPr id="5" name="music circle"/>
          <p:cNvSpPr/>
          <p:nvPr/>
        </p:nvSpPr>
        <p:spPr>
          <a:xfrm>
            <a:off x="8778240" y="146304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usic" descr="mus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2033626"/>
            <a:ext cx="1053389" cy="1053389"/>
          </a:xfrm>
          <a:prstGeom prst="rect">
            <a:avLst/>
          </a:prstGeom>
        </p:spPr>
      </p:pic>
      <p:sp>
        <p:nvSpPr>
          <p:cNvPr id="7" name="equalizer bar 1"/>
          <p:cNvSpPr/>
          <p:nvPr/>
        </p:nvSpPr>
        <p:spPr>
          <a:xfrm>
            <a:off x="8458200" y="4663440"/>
            <a:ext cx="274320" cy="8229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8" name="equalizer bar 2"/>
          <p:cNvSpPr/>
          <p:nvPr/>
        </p:nvSpPr>
        <p:spPr>
          <a:xfrm>
            <a:off x="8915400" y="4023360"/>
            <a:ext cx="274320" cy="146304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9" name="equalizer bar 3"/>
          <p:cNvSpPr/>
          <p:nvPr/>
        </p:nvSpPr>
        <p:spPr>
          <a:xfrm>
            <a:off x="9372600" y="4389120"/>
            <a:ext cx="274320" cy="109728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10" name="equalizer bar 4"/>
          <p:cNvSpPr/>
          <p:nvPr/>
        </p:nvSpPr>
        <p:spPr>
          <a:xfrm>
            <a:off x="9829800" y="3657600"/>
            <a:ext cx="274320" cy="182880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/>
        </p:spPr>
      </p:sp>
      <p:sp>
        <p:nvSpPr>
          <p:cNvPr id="11" name="equalizer bar 5"/>
          <p:cNvSpPr/>
          <p:nvPr/>
        </p:nvSpPr>
        <p:spPr>
          <a:xfrm>
            <a:off x="10287000" y="4206240"/>
            <a:ext cx="274320" cy="128016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</p:spPr>
      </p:sp>
      <p:sp>
        <p:nvSpPr>
          <p:cNvPr id="12" name="equalizer bar 6"/>
          <p:cNvSpPr/>
          <p:nvPr/>
        </p:nvSpPr>
        <p:spPr>
          <a:xfrm>
            <a:off x="10744200" y="4754880"/>
            <a:ext cx="274320" cy="73152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음악 도구 살펴보기</a:t>
            </a:r>
            <a:endParaRPr lang="en-US" sz="3200" dirty="0"/>
          </a:p>
        </p:txBody>
      </p:sp>
      <p:sp>
        <p:nvSpPr>
          <p:cNvPr id="3" name="Suno card"/>
          <p:cNvSpPr/>
          <p:nvPr/>
        </p:nvSpPr>
        <p:spPr>
          <a:xfrm>
            <a:off x="548640" y="1463040"/>
            <a:ext cx="3474720" cy="4023360"/>
          </a:xfrm>
          <a:prstGeom prst="roundRect">
            <a:avLst>
              <a:gd name="adj" fmla="val 368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4" name="Suno circle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uno" descr="S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951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Suno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노래 완성형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가사 + 보컬이 있는 완성곡 생성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한국어 가사도 노래로 불러 줌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오늘 실습의 메인 도구</a:t>
            </a:r>
            <a:endParaRPr lang="en-US" sz="1500" dirty="0"/>
          </a:p>
        </p:txBody>
      </p:sp>
      <p:sp>
        <p:nvSpPr>
          <p:cNvPr id="9" name="Udio card"/>
          <p:cNvSpPr/>
          <p:nvPr/>
        </p:nvSpPr>
        <p:spPr>
          <a:xfrm>
            <a:off x="4343400" y="1463040"/>
            <a:ext cx="3474720" cy="4023360"/>
          </a:xfrm>
          <a:prstGeom prst="roundRect">
            <a:avLst>
              <a:gd name="adj" fmla="val 368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0" name="Udio circle"/>
          <p:cNvSpPr/>
          <p:nvPr/>
        </p:nvSpPr>
        <p:spPr>
          <a:xfrm>
            <a:off x="4663440" y="17373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Udio" descr="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19513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Udio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고음질 음악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8803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장르·악기 표현이 세밀함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곡을 이어서 길게 확장 가능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다양한 스타일 실험용</a:t>
            </a:r>
            <a:endParaRPr lang="en-US" sz="1500" dirty="0"/>
          </a:p>
        </p:txBody>
      </p:sp>
      <p:sp>
        <p:nvSpPr>
          <p:cNvPr id="15" name="Soundraw card"/>
          <p:cNvSpPr/>
          <p:nvPr/>
        </p:nvSpPr>
        <p:spPr>
          <a:xfrm>
            <a:off x="8138160" y="1463040"/>
            <a:ext cx="3474720" cy="4023360"/>
          </a:xfrm>
          <a:prstGeom prst="roundRect">
            <a:avLst>
              <a:gd name="adj" fmla="val 368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6" name="Soundraw circle"/>
          <p:cNvSpPr/>
          <p:nvPr/>
        </p:nvSpPr>
        <p:spPr>
          <a:xfrm>
            <a:off x="8458200" y="173736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Soundraw" descr="Soundra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170" y="19513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4640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Soundraw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946404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배경음악(BGM)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8803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보컬 없는 영상용 음악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길이·분위기·템포 조절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브이로그·발표 영상에 적합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※ 서비스마다 가입 가능 연령, 무료 이용 횟수, 저작권 정책이 다르고 수시로 바뀌니 사용 전에 꼭 확인해요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음악 프롬프트 공식</a:t>
            </a:r>
            <a:endParaRPr lang="en-US" sz="3200" dirty="0"/>
          </a:p>
        </p:txBody>
      </p:sp>
      <p:sp>
        <p:nvSpPr>
          <p:cNvPr id="3" name="장르"/>
          <p:cNvSpPr/>
          <p:nvPr/>
        </p:nvSpPr>
        <p:spPr>
          <a:xfrm>
            <a:off x="5486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장르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K-pop 댄스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분위기"/>
          <p:cNvSpPr/>
          <p:nvPr/>
        </p:nvSpPr>
        <p:spPr>
          <a:xfrm>
            <a:off x="242316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316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분위기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신나는, 청량한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1" name="악기"/>
          <p:cNvSpPr/>
          <p:nvPr/>
        </p:nvSpPr>
        <p:spPr>
          <a:xfrm>
            <a:off x="429768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악기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신스, 강한 드럼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5" name="템포"/>
          <p:cNvSpPr/>
          <p:nvPr/>
        </p:nvSpPr>
        <p:spPr>
          <a:xfrm>
            <a:off x="617220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템포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빠른 템포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9" name="보컬"/>
          <p:cNvSpPr/>
          <p:nvPr/>
        </p:nvSpPr>
        <p:spPr>
          <a:xfrm>
            <a:off x="804672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보컬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맑은 여성 보컬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23" name="주제"/>
          <p:cNvSpPr/>
          <p:nvPr/>
        </p:nvSpPr>
        <p:spPr>
          <a:xfrm>
            <a:off x="99212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212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주제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친구와의 우정</a:t>
            </a:r>
            <a:endParaRPr lang="en-US" sz="1400" dirty="0"/>
          </a:p>
        </p:txBody>
      </p:sp>
      <p:sp>
        <p:nvSpPr>
          <p:cNvPr id="26" name="example prompt"/>
          <p:cNvSpPr/>
          <p:nvPr/>
        </p:nvSpPr>
        <p:spPr>
          <a:xfrm>
            <a:off x="548640" y="3703320"/>
            <a:ext cx="1106424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27" name="prompt circle"/>
          <p:cNvSpPr/>
          <p:nvPr/>
        </p:nvSpPr>
        <p:spPr>
          <a:xfrm>
            <a:off x="868680" y="3977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prompt" descr="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4155948"/>
            <a:ext cx="329184" cy="32918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78308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완성된 프롬프트 예시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783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"신나고 청량한 K-pop 댄스곡, 밝은 신스와 강한 드럼, 빠른 템포,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맑은 여성 보컬, 고등학교 친구들과의 우정에 대한 노래"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아쉬운 프롬프트 vs 좋은 프롬프트</a:t>
            </a:r>
            <a:endParaRPr lang="en-US" sz="3200" dirty="0"/>
          </a:p>
        </p:txBody>
      </p:sp>
      <p:sp>
        <p:nvSpPr>
          <p:cNvPr id="3" name="아쉬운 프롬프트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4" name="아쉬운 프롬프트 circle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아쉬운 프롬프트" descr="아쉬운 프롬프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아쉬운 프롬프트</a:t>
            </a:r>
            <a:endParaRPr lang="en-US" sz="2200" dirty="0"/>
          </a:p>
        </p:txBody>
      </p:sp>
      <p:sp>
        <p:nvSpPr>
          <p:cNvPr id="7" name="prompt box"/>
          <p:cNvSpPr/>
          <p:nvPr/>
        </p:nvSpPr>
        <p:spPr>
          <a:xfrm>
            <a:off x="868680" y="2560320"/>
            <a:ext cx="4754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560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"좋은 노래 만들어줘"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160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장르·분위기 정보가 없음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AI가 마음대로 골라 결과 예측 불가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내가 원하는 느낌과 거리가 멂</a:t>
            </a:r>
            <a:endParaRPr lang="en-US" sz="1500" dirty="0"/>
          </a:p>
        </p:txBody>
      </p:sp>
      <p:sp>
        <p:nvSpPr>
          <p:cNvPr id="10" name="좋은 프롬프트"/>
          <p:cNvSpPr/>
          <p:nvPr/>
        </p:nvSpPr>
        <p:spPr>
          <a:xfrm>
            <a:off x="621792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1" name="좋은 프롬프트 circle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좋은 프롬프트" descr="좋은 프롬프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8580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좋은 프롬프트</a:t>
            </a:r>
            <a:endParaRPr lang="en-US" sz="2200" dirty="0"/>
          </a:p>
        </p:txBody>
      </p:sp>
      <p:sp>
        <p:nvSpPr>
          <p:cNvPr id="14" name="prompt box"/>
          <p:cNvSpPr/>
          <p:nvPr/>
        </p:nvSpPr>
        <p:spPr>
          <a:xfrm>
            <a:off x="6537960" y="2560320"/>
            <a:ext cx="475488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766560" y="25603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"비 오는 날 창가에서 듣는 잔잔한 로파이 힙합, 피아노와 빗소리, 느린 템포, 보컬 없음"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4160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장면이 떠오르는 구체적 묘사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악기·템포·보컬 여부까지 지정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여러 번 생성해도 느낌이 일정함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가사는 구조 태그로 흐름을 잡아요</a:t>
            </a:r>
            <a:endParaRPr lang="en-US" sz="3200" dirty="0"/>
          </a:p>
        </p:txBody>
      </p:sp>
      <p:sp>
        <p:nvSpPr>
          <p:cNvPr id="3" name="lyrics box"/>
          <p:cNvSpPr/>
          <p:nvPr/>
        </p:nvSpPr>
        <p:spPr>
          <a:xfrm>
            <a:off x="548640" y="146304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4"/>
                </a:solidFill>
              </a:rPr>
              <a:t>[Verse 1]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종이 울리면 창문을 열어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우리 웃음이 바람을 타고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2"/>
                </a:solidFill>
              </a:rPr>
              <a:t>[Chorus]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지금 이 순간 우리가 주인공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함께라면 어디든 갈 수 있어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3"/>
                </a:solidFill>
              </a:rPr>
              <a:t>[Outro]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오늘을 노래해, 우리의 계절</a:t>
            </a:r>
            <a:endParaRPr lang="en-US" sz="1700" dirty="0"/>
          </a:p>
        </p:txBody>
      </p:sp>
      <p:sp>
        <p:nvSpPr>
          <p:cNvPr id="5" name="구조 태그 넣기 circle"/>
          <p:cNvSpPr/>
          <p:nvPr/>
        </p:nvSpPr>
        <p:spPr>
          <a:xfrm>
            <a:off x="62179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구조 태그 넣기" descr="구조 태그 넣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002" y="18022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237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구조 태그 넣기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[Verse] 이야기 · [Chorus] 후렴 · [Bridge] 분위기 전환 · [Outro] 마무리</a:t>
            </a:r>
            <a:endParaRPr lang="en-US" sz="1400" dirty="0"/>
          </a:p>
        </p:txBody>
      </p:sp>
      <p:sp>
        <p:nvSpPr>
          <p:cNvPr id="9" name="후렴은 짧고 반복되게 circle"/>
          <p:cNvSpPr/>
          <p:nvPr/>
        </p:nvSpPr>
        <p:spPr>
          <a:xfrm>
            <a:off x="6217920" y="3063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후렴은 짧고 반복되게" descr="후렴은 짧고 반복되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2" y="32653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후렴은 짧고 반복되게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 번 들어도 따라 부를 수 있는 2~4줄</a:t>
            </a:r>
            <a:endParaRPr lang="en-US" sz="1400" dirty="0"/>
          </a:p>
        </p:txBody>
      </p:sp>
      <p:sp>
        <p:nvSpPr>
          <p:cNvPr id="13" name="AI 초안 + 내 손으로 다듬기 circle"/>
          <p:cNvSpPr/>
          <p:nvPr/>
        </p:nvSpPr>
        <p:spPr>
          <a:xfrm>
            <a:off x="6217920" y="45262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I 초안 + 내 손으로 다듬기" descr="AI 초안 + 내 손으로 다듬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472836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2376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초안 + 내 손으로 다듬기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22376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챗봇에게 초안을 받아도 OK, 단어는 내 경험으로 바꾸기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실습 1 · 나만의 노래 만들기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777240" y="16184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18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주제 정하기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463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나의 꿈, 우리 반, 좋아하는 계절, 응원하고 싶은 친구 중 하나 고르기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548640" y="256032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step 2"/>
          <p:cNvSpPr/>
          <p:nvPr/>
        </p:nvSpPr>
        <p:spPr>
          <a:xfrm>
            <a:off x="777240" y="27157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15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쓰기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5603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구조 태그를 넣어 4~8줄 작성 (AI 도움 가능, 마지막 손질은 내가)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548640" y="365760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4" name="step 3"/>
          <p:cNvSpPr/>
          <p:nvPr/>
        </p:nvSpPr>
        <p:spPr>
          <a:xfrm>
            <a:off x="777240" y="3813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스타일 입력 · 생성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프롬프트 공식으로 스타일 칸을 채우고 생성 버튼 클릭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548640" y="475488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9" name="step 4"/>
          <p:cNvSpPr/>
          <p:nvPr/>
        </p:nvSpPr>
        <p:spPr>
          <a:xfrm>
            <a:off x="777240" y="49103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910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754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듣고 비교 · 저장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생성된 곡을 비교해 베스트 1곡을 MP3로 다운로드</a:t>
            </a:r>
            <a:endParaRPr lang="en-US" sz="1400" dirty="0"/>
          </a:p>
        </p:txBody>
      </p:sp>
      <p:sp>
        <p:nvSpPr>
          <p:cNvPr id="23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25분</a:t>
            </a:r>
            <a:endParaRPr lang="en-US" sz="2800" dirty="0"/>
          </a:p>
        </p:txBody>
      </p:sp>
      <p:sp>
        <p:nvSpPr>
          <p:cNvPr id="26" name="listen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listen" descr="list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이어폰을 끼고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들어 보세요!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PART 2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영상 만들기 &amp; 편집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내 노래에 어울리는 장면 만들기</a:t>
            </a:r>
            <a:endParaRPr lang="en-US" sz="2000" dirty="0"/>
          </a:p>
        </p:txBody>
      </p:sp>
      <p:sp>
        <p:nvSpPr>
          <p:cNvPr id="5" name="video circle"/>
          <p:cNvSpPr/>
          <p:nvPr/>
        </p:nvSpPr>
        <p:spPr>
          <a:xfrm>
            <a:off x="8778240" y="1463040"/>
            <a:ext cx="2194560" cy="21945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video" descr="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2033626"/>
            <a:ext cx="1053389" cy="1053389"/>
          </a:xfrm>
          <a:prstGeom prst="rect">
            <a:avLst/>
          </a:prstGeom>
        </p:spPr>
      </p:pic>
      <p:sp>
        <p:nvSpPr>
          <p:cNvPr id="7" name="equalizer bar 1"/>
          <p:cNvSpPr/>
          <p:nvPr/>
        </p:nvSpPr>
        <p:spPr>
          <a:xfrm>
            <a:off x="8458200" y="4206240"/>
            <a:ext cx="274320" cy="128016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8" name="equalizer bar 2"/>
          <p:cNvSpPr/>
          <p:nvPr/>
        </p:nvSpPr>
        <p:spPr>
          <a:xfrm>
            <a:off x="8915400" y="4663440"/>
            <a:ext cx="274320" cy="822960"/>
          </a:xfrm>
          <a:prstGeom prst="roundRect">
            <a:avLst>
              <a:gd name="adj" fmla="val 26667"/>
            </a:avLst>
          </a:prstGeom>
          <a:solidFill>
            <a:schemeClr val="accent2"/>
          </a:solidFill>
          <a:ln/>
        </p:spPr>
      </p:sp>
      <p:sp>
        <p:nvSpPr>
          <p:cNvPr id="9" name="equalizer bar 3"/>
          <p:cNvSpPr/>
          <p:nvPr/>
        </p:nvSpPr>
        <p:spPr>
          <a:xfrm>
            <a:off x="9372600" y="3657600"/>
            <a:ext cx="274320" cy="182880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/>
        </p:spPr>
      </p:sp>
      <p:sp>
        <p:nvSpPr>
          <p:cNvPr id="10" name="equalizer bar 4"/>
          <p:cNvSpPr/>
          <p:nvPr/>
        </p:nvSpPr>
        <p:spPr>
          <a:xfrm>
            <a:off x="9829800" y="4389120"/>
            <a:ext cx="274320" cy="1097280"/>
          </a:xfrm>
          <a:prstGeom prst="roundRect">
            <a:avLst>
              <a:gd name="adj" fmla="val 26667"/>
            </a:avLst>
          </a:prstGeom>
          <a:solidFill>
            <a:schemeClr val="accent4"/>
          </a:solidFill>
          <a:ln/>
        </p:spPr>
      </p:sp>
      <p:sp>
        <p:nvSpPr>
          <p:cNvPr id="11" name="equalizer bar 5"/>
          <p:cNvSpPr/>
          <p:nvPr/>
        </p:nvSpPr>
        <p:spPr>
          <a:xfrm>
            <a:off x="10287000" y="3931920"/>
            <a:ext cx="274320" cy="1554480"/>
          </a:xfrm>
          <a:prstGeom prst="roundRect">
            <a:avLst>
              <a:gd name="adj" fmla="val 26667"/>
            </a:avLst>
          </a:prstGeom>
          <a:solidFill>
            <a:schemeClr val="accent5"/>
          </a:solidFill>
          <a:ln/>
        </p:spPr>
      </p:sp>
      <p:sp>
        <p:nvSpPr>
          <p:cNvPr id="12" name="equalizer bar 6"/>
          <p:cNvSpPr/>
          <p:nvPr/>
        </p:nvSpPr>
        <p:spPr>
          <a:xfrm>
            <a:off x="10744200" y="4572000"/>
            <a:ext cx="274320" cy="91440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영상 제작 3단계</a:t>
            </a:r>
            <a:endParaRPr lang="en-US" sz="3200" dirty="0"/>
          </a:p>
        </p:txBody>
      </p:sp>
      <p:sp>
        <p:nvSpPr>
          <p:cNvPr id="3" name="이미지 만들기"/>
          <p:cNvSpPr/>
          <p:nvPr/>
        </p:nvSpPr>
        <p:spPr>
          <a:xfrm>
            <a:off x="548640" y="1463040"/>
            <a:ext cx="3291840" cy="365760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4" name="이미지 만들기 circle"/>
          <p:cNvSpPr/>
          <p:nvPr/>
        </p:nvSpPr>
        <p:spPr>
          <a:xfrm>
            <a:off x="1691640" y="169164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이미지 만들기" descr="이미지 만들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158" y="19531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1단계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이미지 만들기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Canva AI · Bing Image Creator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프롬프트로 장면 이미지 생성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931920" y="306324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움직이는 영상으로"/>
          <p:cNvSpPr/>
          <p:nvPr/>
        </p:nvSpPr>
        <p:spPr>
          <a:xfrm>
            <a:off x="4434840" y="1463040"/>
            <a:ext cx="3291840" cy="365760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2" name="움직이는 영상으로 circle"/>
          <p:cNvSpPr/>
          <p:nvPr/>
        </p:nvSpPr>
        <p:spPr>
          <a:xfrm>
            <a:off x="557784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움직이는 영상으로" descr="움직이는 영상으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58" y="195315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2단계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움직이는 영상으로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Runway · Pika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이미지를 3~5초 영상 클립으로 변환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7818120" y="306324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9" name="편집해서 완성"/>
          <p:cNvSpPr/>
          <p:nvPr/>
        </p:nvSpPr>
        <p:spPr>
          <a:xfrm>
            <a:off x="8321040" y="1463040"/>
            <a:ext cx="3291840" cy="3657600"/>
          </a:xfrm>
          <a:prstGeom prst="roundRect">
            <a:avLst>
              <a:gd name="adj" fmla="val 388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20" name="편집해서 완성 circle"/>
          <p:cNvSpPr/>
          <p:nvPr/>
        </p:nvSpPr>
        <p:spPr>
          <a:xfrm>
            <a:off x="9464040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편집해서 완성" descr="편집해서 완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558" y="1953158"/>
            <a:ext cx="482803" cy="482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2104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3단계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편집해서 완성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CapCut · Vrew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클립 + 음악 + 자막을 하나로</a:t>
            </a:r>
            <a:endParaRPr lang="en-US" sz="1400" dirty="0"/>
          </a:p>
        </p:txBody>
      </p:sp>
      <p:sp>
        <p:nvSpPr>
          <p:cNvPr id="26" name="tip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TIP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시간이 부족하면 1단계 이미지 + CapCut의 확대·이동 효과만으로도 멋진 뮤직비디오가 돼요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영상 프롬프트 공식</a:t>
            </a:r>
            <a:endParaRPr lang="en-US" sz="3200" dirty="0"/>
          </a:p>
        </p:txBody>
      </p:sp>
      <p:sp>
        <p:nvSpPr>
          <p:cNvPr id="3" name="피사체"/>
          <p:cNvSpPr/>
          <p:nvPr/>
        </p:nvSpPr>
        <p:spPr>
          <a:xfrm>
            <a:off x="548640" y="146304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피사체 circle"/>
          <p:cNvSpPr/>
          <p:nvPr/>
        </p:nvSpPr>
        <p:spPr>
          <a:xfrm>
            <a:off x="777240" y="175564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피사체" descr="피사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933956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190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피사체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148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누가 / 무엇이</a:t>
            </a:r>
            <a:endParaRPr lang="en-US" sz="1300" dirty="0"/>
          </a:p>
        </p:txBody>
      </p:sp>
      <p:sp>
        <p:nvSpPr>
          <p:cNvPr id="8" name="동작"/>
          <p:cNvSpPr/>
          <p:nvPr/>
        </p:nvSpPr>
        <p:spPr>
          <a:xfrm>
            <a:off x="3429000" y="146304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동작 circle"/>
          <p:cNvSpPr/>
          <p:nvPr/>
        </p:nvSpPr>
        <p:spPr>
          <a:xfrm>
            <a:off x="3657600" y="1755648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동작" descr="동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193395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17190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동작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2148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무엇을 하는지</a:t>
            </a:r>
            <a:endParaRPr lang="en-US" sz="1300" dirty="0"/>
          </a:p>
        </p:txBody>
      </p:sp>
      <p:sp>
        <p:nvSpPr>
          <p:cNvPr id="13" name="배경"/>
          <p:cNvSpPr/>
          <p:nvPr/>
        </p:nvSpPr>
        <p:spPr>
          <a:xfrm>
            <a:off x="54864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4" name="배경 circle"/>
          <p:cNvSpPr/>
          <p:nvPr/>
        </p:nvSpPr>
        <p:spPr>
          <a:xfrm>
            <a:off x="777240" y="3218688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배경" descr="배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33969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82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배경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어디에서</a:t>
            </a:r>
            <a:endParaRPr lang="en-US" sz="1300" dirty="0"/>
          </a:p>
        </p:txBody>
      </p:sp>
      <p:sp>
        <p:nvSpPr>
          <p:cNvPr id="18" name="카메라"/>
          <p:cNvSpPr/>
          <p:nvPr/>
        </p:nvSpPr>
        <p:spPr>
          <a:xfrm>
            <a:off x="342900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카메라 circle"/>
          <p:cNvSpPr/>
          <p:nvPr/>
        </p:nvSpPr>
        <p:spPr>
          <a:xfrm>
            <a:off x="3657600" y="3218688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카메라" descr="카메라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339699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80560" y="31821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카메라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48056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어떤 시점으로</a:t>
            </a:r>
            <a:endParaRPr lang="en-US" sz="1300" dirty="0"/>
          </a:p>
        </p:txBody>
      </p:sp>
      <p:sp>
        <p:nvSpPr>
          <p:cNvPr id="23" name="스타일"/>
          <p:cNvSpPr/>
          <p:nvPr/>
        </p:nvSpPr>
        <p:spPr>
          <a:xfrm>
            <a:off x="548640" y="438912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스타일 circle"/>
          <p:cNvSpPr/>
          <p:nvPr/>
        </p:nvSpPr>
        <p:spPr>
          <a:xfrm>
            <a:off x="777240" y="468172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스타일" descr="스타일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86003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46451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스타일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600200" y="5074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실사 / 애니 / 수채화</a:t>
            </a:r>
            <a:endParaRPr lang="en-US" sz="1300" dirty="0"/>
          </a:p>
        </p:txBody>
      </p:sp>
      <p:sp>
        <p:nvSpPr>
          <p:cNvPr id="28" name="조명·색감"/>
          <p:cNvSpPr/>
          <p:nvPr/>
        </p:nvSpPr>
        <p:spPr>
          <a:xfrm>
            <a:off x="3429000" y="4389120"/>
            <a:ext cx="2697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9" name="조명·색감 circle"/>
          <p:cNvSpPr/>
          <p:nvPr/>
        </p:nvSpPr>
        <p:spPr>
          <a:xfrm>
            <a:off x="3657600" y="468172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조명·색감" descr="조명·색감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5908" y="4860036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480560" y="46451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조명·색감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4480560" y="5074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어떤 빛과 분위기</a:t>
            </a:r>
            <a:endParaRPr lang="en-US" sz="1300" dirty="0"/>
          </a:p>
        </p:txBody>
      </p:sp>
      <p:sp>
        <p:nvSpPr>
          <p:cNvPr id="33" name="video prompt example"/>
          <p:cNvSpPr/>
          <p:nvPr/>
        </p:nvSpPr>
        <p:spPr>
          <a:xfrm>
            <a:off x="6492240" y="1463040"/>
            <a:ext cx="5120640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685800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프롬프트 예시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0" y="224028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교복 입은 학생이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운동장을 힘차게 달린다,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노을 지는 학교 운동장,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드론이 천천히 따라가는 시점,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애니메이션 스타일,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따뜻한 황금빛 조명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4컷 스토리보드로 먼저 설계해요</a:t>
            </a:r>
            <a:endParaRPr lang="en-US" sz="3200" dirty="0"/>
          </a:p>
        </p:txBody>
      </p:sp>
      <p:sp>
        <p:nvSpPr>
          <p:cNvPr id="3" name="#1 Intro frame"/>
          <p:cNvSpPr/>
          <p:nvPr/>
        </p:nvSpPr>
        <p:spPr>
          <a:xfrm>
            <a:off x="54864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dash"/>
          </a:ln>
        </p:spPr>
      </p:sp>
      <p:pic>
        <p:nvPicPr>
          <p:cNvPr id="4" name="#1 Intro placeholder icon" descr="장면 이미지 자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#1 Intro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0–8초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제목이 뜨는 학교 전경</a:t>
            </a:r>
            <a:endParaRPr lang="en-US" sz="1400" dirty="0"/>
          </a:p>
        </p:txBody>
      </p:sp>
      <p:sp>
        <p:nvSpPr>
          <p:cNvPr id="8" name="#2 Verse frame"/>
          <p:cNvSpPr/>
          <p:nvPr/>
        </p:nvSpPr>
        <p:spPr>
          <a:xfrm>
            <a:off x="338328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9" name="#2 Verse placeholder icon" descr="장면 이미지 자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#2 Verse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8–25초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친구들과 웃는 교실 장면</a:t>
            </a:r>
            <a:endParaRPr lang="en-US" sz="1400" dirty="0"/>
          </a:p>
        </p:txBody>
      </p:sp>
      <p:sp>
        <p:nvSpPr>
          <p:cNvPr id="13" name="#3 Chorus frame"/>
          <p:cNvSpPr/>
          <p:nvPr/>
        </p:nvSpPr>
        <p:spPr>
          <a:xfrm>
            <a:off x="621792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pic>
        <p:nvPicPr>
          <p:cNvPr id="14" name="#3 Chorus placeholder icon" descr="장면 이미지 자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96596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#3 Chorus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21792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25–45초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운동장을 달리는 하이라이트</a:t>
            </a:r>
            <a:endParaRPr lang="en-US" sz="1400" dirty="0"/>
          </a:p>
        </p:txBody>
      </p:sp>
      <p:sp>
        <p:nvSpPr>
          <p:cNvPr id="18" name="#4 Outro frame"/>
          <p:cNvSpPr/>
          <p:nvPr/>
        </p:nvSpPr>
        <p:spPr>
          <a:xfrm>
            <a:off x="905256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dash"/>
          </a:ln>
        </p:spPr>
      </p:sp>
      <p:pic>
        <p:nvPicPr>
          <p:cNvPr id="19" name="#4 Outro placeholder icon" descr="장면 이미지 자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96596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525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#4 Outro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905256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45–60초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05256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노을 속 실루엣 + 엔딩 문구</a:t>
            </a:r>
            <a:endParaRPr lang="en-US" sz="1400" dirty="0"/>
          </a:p>
        </p:txBody>
      </p:sp>
      <p:sp>
        <p:nvSpPr>
          <p:cNvPr id="23" name="storyboard tip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4" name="tip circle"/>
          <p:cNvSpPr/>
          <p:nvPr/>
        </p:nvSpPr>
        <p:spPr>
          <a:xfrm>
            <a:off x="777240" y="5184648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tip" descr="ti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5351069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50749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노래의 구조(Verse·Chorus)에 장면을 맞추면 영상이 음악과 딱 맞아떨어져요. 후렴에는 가장 멋진 장면을!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뮤직비디오 편집 핵심 기술 5가지</a:t>
            </a:r>
            <a:endParaRPr lang="en-US" sz="3200" dirty="0"/>
          </a:p>
        </p:txBody>
      </p:sp>
      <p:sp>
        <p:nvSpPr>
          <p:cNvPr id="3" name="컷 편집"/>
          <p:cNvSpPr/>
          <p:nvPr/>
        </p:nvSpPr>
        <p:spPr>
          <a:xfrm>
            <a:off x="548640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컷 편집 circle"/>
          <p:cNvSpPr/>
          <p:nvPr/>
        </p:nvSpPr>
        <p:spPr>
          <a:xfrm>
            <a:off x="1051560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컷 편집" descr="컷 편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20903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컷 편집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611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필요 없는 부분을 잘라 리듬감 있게</a:t>
            </a:r>
            <a:endParaRPr lang="en-US" sz="1400" dirty="0"/>
          </a:p>
        </p:txBody>
      </p:sp>
      <p:sp>
        <p:nvSpPr>
          <p:cNvPr id="8" name="비트 맞추기"/>
          <p:cNvSpPr/>
          <p:nvPr/>
        </p:nvSpPr>
        <p:spPr>
          <a:xfrm>
            <a:off x="2807208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비트 맞추기 circle"/>
          <p:cNvSpPr/>
          <p:nvPr/>
        </p:nvSpPr>
        <p:spPr>
          <a:xfrm>
            <a:off x="3310128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비트 맞추기" descr="비트 맞추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209031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07208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비트 맞추기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90088" y="3611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드럼이 '쿵' 할 때 장면 전환</a:t>
            </a:r>
            <a:endParaRPr lang="en-US" sz="1400" dirty="0"/>
          </a:p>
        </p:txBody>
      </p:sp>
      <p:sp>
        <p:nvSpPr>
          <p:cNvPr id="13" name="가사 자막"/>
          <p:cNvSpPr/>
          <p:nvPr/>
        </p:nvSpPr>
        <p:spPr>
          <a:xfrm>
            <a:off x="5065776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가사 자막 circle"/>
          <p:cNvSpPr/>
          <p:nvPr/>
        </p:nvSpPr>
        <p:spPr>
          <a:xfrm>
            <a:off x="5568696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가사 자막" descr="가사 자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209031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65776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자막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48656" y="3611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자동 자막 후 오타 수정</a:t>
            </a:r>
            <a:endParaRPr lang="en-US" sz="1400" dirty="0"/>
          </a:p>
        </p:txBody>
      </p:sp>
      <p:sp>
        <p:nvSpPr>
          <p:cNvPr id="18" name="전환 효과"/>
          <p:cNvSpPr/>
          <p:nvPr/>
        </p:nvSpPr>
        <p:spPr>
          <a:xfrm>
            <a:off x="7324344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전환 효과 circle"/>
          <p:cNvSpPr/>
          <p:nvPr/>
        </p:nvSpPr>
        <p:spPr>
          <a:xfrm>
            <a:off x="7827264" y="182880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전환 효과" descr="전환 효과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2090318"/>
            <a:ext cx="482803" cy="482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24344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전환 효과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07224" y="3611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시작처럼 중요한 곳에만</a:t>
            </a:r>
            <a:endParaRPr lang="en-US" sz="1400" dirty="0"/>
          </a:p>
        </p:txBody>
      </p:sp>
      <p:sp>
        <p:nvSpPr>
          <p:cNvPr id="23" name="색감 필터"/>
          <p:cNvSpPr/>
          <p:nvPr/>
        </p:nvSpPr>
        <p:spPr>
          <a:xfrm>
            <a:off x="9582912" y="155448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4" name="색감 필터 circle"/>
          <p:cNvSpPr/>
          <p:nvPr/>
        </p:nvSpPr>
        <p:spPr>
          <a:xfrm>
            <a:off x="10085832" y="182880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색감 필터" descr="색감 필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2090318"/>
            <a:ext cx="482803" cy="482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582912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색감 필터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65792" y="36118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전체 영상의 톤을 하나로 통일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기억하기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효과는 적을수록 세련돼 보여요. 음악의 박자에 맞춘 컷 전환이 가장 강력한 효과!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실습 2 · 뮤직비디오 완성하기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173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749808" y="15270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17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새 프로젝트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CapCut에서 새 프로젝트 → 만든 이미지·영상 클립 불러오기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548640" y="23317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9" name="step 2"/>
          <p:cNvSpPr/>
          <p:nvPr/>
        </p:nvSpPr>
        <p:spPr>
          <a:xfrm>
            <a:off x="749808" y="24414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음악 넣기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오디오 트랙에 실습 1에서 저장한 내 노래(MP3) 추가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548640" y="32461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step 3"/>
          <p:cNvSpPr/>
          <p:nvPr/>
        </p:nvSpPr>
        <p:spPr>
          <a:xfrm>
            <a:off x="749808" y="33558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비트에 맞춰 자르기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스토리보드 순서대로 배치하고 박자에 맞춰 컷 조절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548640" y="41605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step 4"/>
          <p:cNvSpPr/>
          <p:nvPr/>
        </p:nvSpPr>
        <p:spPr>
          <a:xfrm>
            <a:off x="749808" y="42702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160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자막 · 효과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4160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제목, 가사 자막, 전환 효과, 색감 필터 넣기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548640" y="50749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4" name="step 5"/>
          <p:cNvSpPr/>
          <p:nvPr/>
        </p:nvSpPr>
        <p:spPr>
          <a:xfrm>
            <a:off x="749808" y="51846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074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내보내기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5074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1080p로 내보내고 '학번_이름_제목'으로 저장</a:t>
            </a:r>
            <a:endParaRPr lang="en-US" sz="1400" dirty="0"/>
          </a:p>
        </p:txBody>
      </p:sp>
      <p:sp>
        <p:nvSpPr>
          <p:cNvPr id="28" name="timer"/>
          <p:cNvSpPr/>
          <p:nvPr/>
        </p:nvSpPr>
        <p:spPr>
          <a:xfrm>
            <a:off x="9601200" y="141732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0120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1801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30분</a:t>
            </a:r>
            <a:endParaRPr lang="en-US" sz="2800" dirty="0"/>
          </a:p>
        </p:txBody>
      </p:sp>
      <p:sp>
        <p:nvSpPr>
          <p:cNvPr id="31" name="export circle"/>
          <p:cNvSpPr/>
          <p:nvPr/>
        </p:nvSpPr>
        <p:spPr>
          <a:xfrm>
            <a:off x="10012680" y="288036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export" descr="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47" y="3189427"/>
            <a:ext cx="570586" cy="57058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9326880" y="4206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완성 후 공유 폴더에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업로드하세요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꼭 지켜야 할 저작권 &amp; AI 윤리</a:t>
            </a:r>
            <a:endParaRPr lang="en-US" sz="3200" dirty="0"/>
          </a:p>
        </p:txBody>
      </p:sp>
      <p:sp>
        <p:nvSpPr>
          <p:cNvPr id="3" name="실존 인물 무단 사용 금지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실존 인물 무단 사용 금지 circle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실존 인물 무단 사용 금지" descr="실존 인물 무단 사용 금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008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실존 인물 무단 사용 금지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286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연예인·친구의 얼굴이나 목소리를 허락 없이 합성하면 딥페이크 범죄가 될 수 있어요</a:t>
            </a:r>
            <a:endParaRPr lang="en-US" sz="1400" dirty="0"/>
          </a:p>
        </p:txBody>
      </p:sp>
      <p:sp>
        <p:nvSpPr>
          <p:cNvPr id="8" name="친구 사진은 동의 먼저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친구 사진은 동의 먼저 circle"/>
          <p:cNvSpPr/>
          <p:nvPr/>
        </p:nvSpPr>
        <p:spPr>
          <a:xfrm>
            <a:off x="649224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친구 사진은 동의 먼저" descr="친구 사진은 동의 먼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97" y="20089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친구 사진은 동의 먼저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286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작품에 친구가 나온다면 반드시 본인의 허락을 받아요</a:t>
            </a:r>
            <a:endParaRPr lang="en-US" sz="1400" dirty="0"/>
          </a:p>
        </p:txBody>
      </p:sp>
      <p:sp>
        <p:nvSpPr>
          <p:cNvPr id="13" name="AI 생성물임을 밝히기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AI 생성물임을 밝히기 circle"/>
          <p:cNvSpPr/>
          <p:nvPr/>
        </p:nvSpPr>
        <p:spPr>
          <a:xfrm>
            <a:off x="868680" y="40233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AI 생성물임을 밝히기" descr="AI 생성물임을 밝히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424921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생성물임을 밝히기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4526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작품을 공유할 때 'AI로 제작'이라고 표시해요</a:t>
            </a:r>
            <a:endParaRPr lang="en-US" sz="1400" dirty="0"/>
          </a:p>
        </p:txBody>
      </p:sp>
      <p:sp>
        <p:nvSpPr>
          <p:cNvPr id="18" name="이용약관 확인하기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이용약관 확인하기 circle"/>
          <p:cNvSpPr/>
          <p:nvPr/>
        </p:nvSpPr>
        <p:spPr>
          <a:xfrm>
            <a:off x="6492240" y="40233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이용약관 확인하기" descr="이용약관 확인하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424921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8952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이용약관 확인하기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89520" y="45262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무료 플랜은 상업적 이용이 제한되는 경우가 많아요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작품 감상 &amp; 피드백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감상 포인트</a:t>
            </a:r>
            <a:endParaRPr lang="en-US" sz="2000" dirty="0"/>
          </a:p>
        </p:txBody>
      </p:sp>
      <p:sp>
        <p:nvSpPr>
          <p:cNvPr id="4" name="어울림 circle"/>
          <p:cNvSpPr/>
          <p:nvPr/>
        </p:nvSpPr>
        <p:spPr>
          <a:xfrm>
            <a:off x="548640" y="20116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어울림" descr="어울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22375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어울림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음악과 영상의 분위기·박자가 잘 맞나요?</a:t>
            </a:r>
            <a:endParaRPr lang="en-US" sz="1500" dirty="0"/>
          </a:p>
        </p:txBody>
      </p:sp>
      <p:sp>
        <p:nvSpPr>
          <p:cNvPr id="8" name="창의성 circle"/>
          <p:cNvSpPr/>
          <p:nvPr/>
        </p:nvSpPr>
        <p:spPr>
          <a:xfrm>
            <a:off x="548640" y="32918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창의성" descr="창의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310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창의성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나만의 아이디어가 프롬프트와 장면에 담겼나요?</a:t>
            </a:r>
            <a:endParaRPr lang="en-US" sz="1500" dirty="0"/>
          </a:p>
        </p:txBody>
      </p:sp>
      <p:sp>
        <p:nvSpPr>
          <p:cNvPr id="12" name="메시지 circle"/>
          <p:cNvSpPr/>
          <p:nvPr/>
        </p:nvSpPr>
        <p:spPr>
          <a:xfrm>
            <a:off x="548640" y="45720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메시지" descr="메시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479785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메시지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전하고 싶은 이야기가 잘 느껴지나요?</a:t>
            </a:r>
            <a:endParaRPr lang="en-US" sz="1500" dirty="0"/>
          </a:p>
        </p:txBody>
      </p:sp>
      <p:sp>
        <p:nvSpPr>
          <p:cNvPr id="16" name="feedback rule"/>
          <p:cNvSpPr/>
          <p:nvPr/>
        </p:nvSpPr>
        <p:spPr>
          <a:xfrm>
            <a:off x="6766560" y="1463040"/>
            <a:ext cx="484632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13232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피드백 규칙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132320" y="2331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칭찬 1 + 제안 1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7132320" y="333756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"후렴에서 장면이 바뀌는 타이밍이 정말 좋았어!"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"마지막 장면을 조금 더 길게 보여주면 여운이 남을 것 같아"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오늘의 경험을 진로로 이어가기</a:t>
            </a:r>
            <a:endParaRPr lang="en-US" sz="3200" dirty="0"/>
          </a:p>
        </p:txBody>
      </p:sp>
      <p:sp>
        <p:nvSpPr>
          <p:cNvPr id="3" name="지금, 고등학교에서 chevron"/>
          <p:cNvSpPr/>
          <p:nvPr/>
        </p:nvSpPr>
        <p:spPr>
          <a:xfrm>
            <a:off x="548640" y="1463040"/>
            <a:ext cx="3611880" cy="868680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지금, 고등학교에서</a:t>
            </a:r>
            <a:endParaRPr lang="en-US" sz="1700" dirty="0"/>
          </a:p>
        </p:txBody>
      </p:sp>
      <p:sp>
        <p:nvSpPr>
          <p:cNvPr id="5" name="지금, 고등학교에서 card"/>
          <p:cNvSpPr/>
          <p:nvPr/>
        </p:nvSpPr>
        <p:spPr>
          <a:xfrm>
            <a:off x="548640" y="260604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6" name="지금, 고등학교에서 circle"/>
          <p:cNvSpPr/>
          <p:nvPr/>
        </p:nvSpPr>
        <p:spPr>
          <a:xfrm>
            <a:off x="1874520" y="2834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지금, 고등학교에서" descr="지금, 고등학교에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490" y="30486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정보·음악·미술 교과 심화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영상·방송·미디어 동아리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교내외 영상·UCC 공모전 도전</a:t>
            </a:r>
            <a:endParaRPr lang="en-US" sz="1400" dirty="0"/>
          </a:p>
        </p:txBody>
      </p:sp>
      <p:sp>
        <p:nvSpPr>
          <p:cNvPr id="9" name="대학에서 chevron"/>
          <p:cNvSpPr/>
          <p:nvPr/>
        </p:nvSpPr>
        <p:spPr>
          <a:xfrm>
            <a:off x="4343400" y="1463040"/>
            <a:ext cx="3611880" cy="8686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54880" y="1463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대학에서</a:t>
            </a:r>
            <a:endParaRPr lang="en-US" sz="1700" dirty="0"/>
          </a:p>
        </p:txBody>
      </p:sp>
      <p:sp>
        <p:nvSpPr>
          <p:cNvPr id="11" name="대학에서 card"/>
          <p:cNvSpPr/>
          <p:nvPr/>
        </p:nvSpPr>
        <p:spPr>
          <a:xfrm>
            <a:off x="4343400" y="260604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2" name="대학에서 circle"/>
          <p:cNvSpPr/>
          <p:nvPr/>
        </p:nvSpPr>
        <p:spPr>
          <a:xfrm>
            <a:off x="5669280" y="2834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대학에서" descr="대학에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250" y="304861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미디어·영상·실용음악 계열 진학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제작 실습과 포트폴리오 쌓기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AI·데이터 융합 과목 수강</a:t>
            </a:r>
            <a:endParaRPr lang="en-US" sz="1400" dirty="0"/>
          </a:p>
        </p:txBody>
      </p:sp>
      <p:sp>
        <p:nvSpPr>
          <p:cNvPr id="15" name="미래의 나 chevron"/>
          <p:cNvSpPr/>
          <p:nvPr/>
        </p:nvSpPr>
        <p:spPr>
          <a:xfrm>
            <a:off x="8138160" y="1463040"/>
            <a:ext cx="3611880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549640" y="1463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미래의 나</a:t>
            </a:r>
            <a:endParaRPr lang="en-US" sz="1700" dirty="0"/>
          </a:p>
        </p:txBody>
      </p:sp>
      <p:sp>
        <p:nvSpPr>
          <p:cNvPr id="17" name="미래의 나 card"/>
          <p:cNvSpPr/>
          <p:nvPr/>
        </p:nvSpPr>
        <p:spPr>
          <a:xfrm>
            <a:off x="8138160" y="260604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8" name="미래의 나 circle"/>
          <p:cNvSpPr/>
          <p:nvPr/>
        </p:nvSpPr>
        <p:spPr>
          <a:xfrm>
            <a:off x="9464040" y="28346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미래의 나" descr="미래의 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0" y="3048610"/>
            <a:ext cx="395021" cy="39502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3840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뮤직 프로듀서 · 영상 PD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크리에이터 · 콘텐츠 기획자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AI를 활용하는 모든 직업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오늘 여러분은 작곡가이자 영화감독이었습니다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궁금한 점은 언제든 질문해 주세요</a:t>
            </a:r>
            <a:endParaRPr lang="en-US" sz="2000" dirty="0"/>
          </a:p>
        </p:txBody>
      </p:sp>
      <p:sp>
        <p:nvSpPr>
          <p:cNvPr id="5" name="equalizer bar 1"/>
          <p:cNvSpPr/>
          <p:nvPr/>
        </p:nvSpPr>
        <p:spPr>
          <a:xfrm>
            <a:off x="8138160" y="3108960"/>
            <a:ext cx="329184" cy="237744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6" name="equalizer bar 2"/>
          <p:cNvSpPr/>
          <p:nvPr/>
        </p:nvSpPr>
        <p:spPr>
          <a:xfrm>
            <a:off x="8595360" y="4023360"/>
            <a:ext cx="329184" cy="14630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7" name="equalizer bar 3"/>
          <p:cNvSpPr/>
          <p:nvPr/>
        </p:nvSpPr>
        <p:spPr>
          <a:xfrm>
            <a:off x="9052560" y="1645920"/>
            <a:ext cx="329184" cy="384048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8" name="equalizer bar 4"/>
          <p:cNvSpPr/>
          <p:nvPr/>
        </p:nvSpPr>
        <p:spPr>
          <a:xfrm>
            <a:off x="9509760" y="3657600"/>
            <a:ext cx="329184" cy="182880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9" name="equalizer bar 5"/>
          <p:cNvSpPr/>
          <p:nvPr/>
        </p:nvSpPr>
        <p:spPr>
          <a:xfrm>
            <a:off x="9966960" y="2194560"/>
            <a:ext cx="329184" cy="329184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0" name="equalizer bar 6"/>
          <p:cNvSpPr/>
          <p:nvPr/>
        </p:nvSpPr>
        <p:spPr>
          <a:xfrm>
            <a:off x="10424160" y="3291840"/>
            <a:ext cx="329184" cy="219456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1" name="equalizer bar 7"/>
          <p:cNvSpPr/>
          <p:nvPr/>
        </p:nvSpPr>
        <p:spPr>
          <a:xfrm>
            <a:off x="10881360" y="4389120"/>
            <a:ext cx="329184" cy="10972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2" name="equalizer bar 8"/>
          <p:cNvSpPr/>
          <p:nvPr/>
        </p:nvSpPr>
        <p:spPr>
          <a:xfrm>
            <a:off x="11338560" y="2743200"/>
            <a:ext cx="329184" cy="274320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 Music Video Studio">
  <a:themeElements>
    <a:clrScheme name="AI Music Video Studio">
      <a:dk1>
        <a:srgbClr val="1B1035"/>
      </a:dk1>
      <a:lt1>
        <a:srgbClr val="FFFFFF"/>
      </a:lt1>
      <a:dk2>
        <a:srgbClr val="4A3F66"/>
      </a:dk2>
      <a:lt2>
        <a:srgbClr val="F3F0FA"/>
      </a:lt2>
      <a:accent1>
        <a:srgbClr val="7B3FE4"/>
      </a:accent1>
      <a:accent2>
        <a:srgbClr val="FF4F8B"/>
      </a:accent2>
      <a:accent3>
        <a:srgbClr val="13B8A6"/>
      </a:accent3>
      <a:accent4>
        <a:srgbClr val="FFB020"/>
      </a:accent4>
      <a:accent5>
        <a:srgbClr val="4C6FFF"/>
      </a:accent5>
      <a:accent6>
        <a:srgbClr val="B9AEDB"/>
      </a:accent6>
      <a:hlink>
        <a:srgbClr val="7B3FE4"/>
      </a:hlink>
      <a:folHlink>
        <a:srgbClr val="4A3F66"/>
      </a:folHlink>
    </a:clrScheme>
    <a:fontScheme name="AI Music Video Studi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AI로 만드는 나만의 뮤직비디오</dc:title>
  <dc:subject>PptxGenJS Presentation</dc:subject>
  <dc:creator>PptxGenJS</dc:creator>
  <cp:lastModifiedBy>PptxGenJS</cp:lastModifiedBy>
  <cp:revision>1</cp:revision>
  <dcterms:created xsi:type="dcterms:W3CDTF">2026-10-15T22:43:08Z</dcterms:created>
  <dcterms:modified xsi:type="dcterms:W3CDTF">2026-10-15T22:43:08Z</dcterms:modified>
</cp:coreProperties>
</file>