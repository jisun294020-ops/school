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3753ab8-bd52-ac55-b1f7-774934dc6665}">
          <p14:sldIdLst>
            <p14:sldId id="256"/>
            <p14:sldId id="257"/>
            <p14:sldId id="258"/>
            <p14:sldId id="259"/>
            <p14:sldId id="260"/>
          </p14:sldIdLst>
        </p14:section>
        <p14:section name="1차시 음악" id="{606d1f21-e733-1aee-e1fb-b10d8383f7b5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2차시 영상" id="{07e11a70-792e-ea1b-2472-09d805b7df3d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마무리" id="{2c2c19b9-23b7-3e79-db77-ace7c9e8fff3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및 강사 소개. 오늘은 휴대폰 하나로 모둠별 노래를 AI로 만들고, 그 노래로 뮤직비디오를 편집합니다. 시작 전에 강사가 미리 만든 1분짜리 샘플 뮤직비디오를 보여 주면 동기 유발에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50분, 쉬는 시간 10분, 2차시 50분. 쉬는 시간에 강사는 모둠별 노래를 내려받아 패들렛에 올리고, 학생은 휴대폰에 저장합니다.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Suno 등 AI 음악 서비스는 13세 미만 이용 불가, 13~17세는 보호자 동의가 필요합니다. 그래서 학생 계정은 만들지 않고 강사 계정으로 생성합니다. CapCut은 로그인 없이 기본 편집과 내보내기가 가능하지만, 앱 버전에 따라 다를 수 있으니 사전에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생성형 AI를 '입력-처리-출력'으로 간단히 설명합니다. 오늘의 핵심 능력은 원하는 것을 구체적으로 말하는 것, 즉 프롬프트 작성입니다.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모둠 구성 후 역할을 정하고 활동지 첫 표에 적게 합니다. 역할이 있어야 휴대폰 한 대로도 모두가 참여합니다.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시작. 작곡을 몰라도, 악기를 못 다뤄도 오늘은 모두 작곡가가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메모: Suno 무료 계정은 하루 50크레딧, 생성 1회(2곡)에 10크레딧이라 6모둠이면 계정 2개가 필요합니다. 2026년 9월부터 무료 계정 다운로드가 제한되었다는 보도가 있으니, 다운로드가 막히면 미리 만들어 둔 예비곡을 사용하세요. 수업 전 suno.com/pricing에서 최신 정책을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좋아하는 노래 한 곡을 떠올려 6요소로 나눠 보게 하면 이해가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프롬프트로 미리 만든 결과를 들려주면 효과가 큽니다(수업 전날 생성해 두기).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Suno 커스텀 모드의 가사 칸에 태그와 함께 그대로 입력합니다. 활동지 STEP 3 표에 Verse 4줄, Chorus 4줄을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활동. 프롬프트와 가사가 먼저 끝난 모둠부터 강사가 순서대로 생성을 시작하면 시간이 절약됩니다. 생성을 기다리는 동안 STEP 4 스토리보드를 마무리하게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모둠당 약 2분. 6모둠이면 15분 내외. 크레딧이 부족하면 두 번째 강사 계정으로 바꿉니다. 1차시 끝에 패들렛 QR을 안내하고, 쉬는 시간에 각 모둠이 고른 곡을 내려받아 패들렛에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2차시 시작. 모든 모둠이 노래 파일을 휴대폰에 저장했는지 먼저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메뉴 이름은 휴대폰·앱 버전에 따라 조금씩 다릅니다. 수업 전에 아이폰과 갤럭시에서 '패들렛 다운로드 → CapCut 불러오기'를 직접 리허설해 두세요. 받기 어려운 학생은 모둠 친구의 휴대폰 한 대로 편집해도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범위(교실, 복도 등)를 미리 정해 주세요. 얼굴 대신 손·뒷모습·사물을 찍으면 개인정보 걱정이 줄고 오히려 감성적인 영상이 나옵니다. 모둠이 AI 이미지 프롬프트를 냈다면 강사가 만든 이미지를 패들렛에서 받아 함께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휴대폰을 미러링해 한 단계씩 시연한 뒤 20분 편집. 15분이 지나면 '자막과 내보내기로 넘어가세요'라고 안내합니다. 와이파이가 느리면 720p로 내보냅니다. 무료 버전은 영상 끝에 CapCut 로고가 붙을 수 있으며 그대로 두어도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편집 중 순회하며 개별 지도. 박자 맞추기는 노래 파형의 큰 봉우리에서 자르면 쉽다고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딥페이크는 장난이라도 처벌될 수 있는 범죄임을 분명히 안내합니다. 활동지의 'AI 윤리 약속'에 체크하게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패들렛에 올라온 작품을 빔 화면에서 재생합니다. 발표자가 10초 정도 작품을 소개하고, 다른 모둠은 활동지 피드백 표에 칭찬 1 + 제안 1을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소감 한두 명 발표 후 마무리. 활동지 회수 여부는 담당 선생님과 미리 정해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중학생 콘텐츠 제작 학과체험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AI로 만드는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우리 모둠 뮤직비디오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977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휴대폰으로 AI 음악 · 영상 편집 체험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2차시  |  14:20 – 16:10  |  평택여자고등학교</a:t>
            </a:r>
            <a:endParaRPr lang="en-US" sz="1500" dirty="0"/>
          </a:p>
        </p:txBody>
      </p:sp>
      <p:sp>
        <p:nvSpPr>
          <p:cNvPr id="6" name="equalizer bar 1"/>
          <p:cNvSpPr/>
          <p:nvPr/>
        </p:nvSpPr>
        <p:spPr>
          <a:xfrm>
            <a:off x="8138160" y="4389120"/>
            <a:ext cx="329184" cy="109728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7" name="equalizer bar 2"/>
          <p:cNvSpPr/>
          <p:nvPr/>
        </p:nvSpPr>
        <p:spPr>
          <a:xfrm>
            <a:off x="8595360" y="3291840"/>
            <a:ext cx="329184" cy="219456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</p:sp>
      <p:sp>
        <p:nvSpPr>
          <p:cNvPr id="8" name="equalizer bar 3"/>
          <p:cNvSpPr/>
          <p:nvPr/>
        </p:nvSpPr>
        <p:spPr>
          <a:xfrm>
            <a:off x="9052560" y="2194560"/>
            <a:ext cx="329184" cy="329184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9" name="equalizer bar 4"/>
          <p:cNvSpPr/>
          <p:nvPr/>
        </p:nvSpPr>
        <p:spPr>
          <a:xfrm>
            <a:off x="9509760" y="3657600"/>
            <a:ext cx="329184" cy="1828800"/>
          </a:xfrm>
          <a:prstGeom prst="roundRect">
            <a:avLst>
              <a:gd name="adj" fmla="val 22222"/>
            </a:avLst>
          </a:prstGeom>
          <a:solidFill>
            <a:schemeClr val="accent4"/>
          </a:solidFill>
          <a:ln/>
        </p:spPr>
      </p:sp>
      <p:sp>
        <p:nvSpPr>
          <p:cNvPr id="10" name="equalizer bar 5"/>
          <p:cNvSpPr/>
          <p:nvPr/>
        </p:nvSpPr>
        <p:spPr>
          <a:xfrm>
            <a:off x="9966960" y="1645920"/>
            <a:ext cx="329184" cy="3840480"/>
          </a:xfrm>
          <a:prstGeom prst="roundRect">
            <a:avLst>
              <a:gd name="adj" fmla="val 22222"/>
            </a:avLst>
          </a:prstGeom>
          <a:solidFill>
            <a:schemeClr val="accent5"/>
          </a:solidFill>
          <a:ln/>
        </p:spPr>
      </p:sp>
      <p:sp>
        <p:nvSpPr>
          <p:cNvPr id="11" name="equalizer bar 6"/>
          <p:cNvSpPr/>
          <p:nvPr/>
        </p:nvSpPr>
        <p:spPr>
          <a:xfrm>
            <a:off x="10424160" y="2743200"/>
            <a:ext cx="329184" cy="274320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12" name="equalizer bar 7"/>
          <p:cNvSpPr/>
          <p:nvPr/>
        </p:nvSpPr>
        <p:spPr>
          <a:xfrm>
            <a:off x="10881360" y="4023360"/>
            <a:ext cx="329184" cy="146304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</p:sp>
      <p:sp>
        <p:nvSpPr>
          <p:cNvPr id="13" name="equalizer bar 8"/>
          <p:cNvSpPr/>
          <p:nvPr/>
        </p:nvSpPr>
        <p:spPr>
          <a:xfrm>
            <a:off x="11338560" y="3108960"/>
            <a:ext cx="329184" cy="237744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오늘의 여정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920240" y="2057400"/>
            <a:ext cx="832104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4" name="1차시 circle"/>
          <p:cNvSpPr/>
          <p:nvPr/>
        </p:nvSpPr>
        <p:spPr>
          <a:xfrm>
            <a:off x="141732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1차시" descr="1차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064" y="18379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14:20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08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1차시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AI로 우리 모둠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노래 만들기</a:t>
            </a:r>
            <a:endParaRPr lang="en-US" sz="1400" dirty="0"/>
          </a:p>
        </p:txBody>
      </p:sp>
      <p:sp>
        <p:nvSpPr>
          <p:cNvPr id="9" name="쉬는 시간 circle"/>
          <p:cNvSpPr/>
          <p:nvPr/>
        </p:nvSpPr>
        <p:spPr>
          <a:xfrm>
            <a:off x="4251960" y="1600200"/>
            <a:ext cx="914400" cy="9144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쉬는 시간" descr="쉬는 시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704" y="183794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8328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15:10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3108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쉬는 시간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노래 파일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받아 두기</a:t>
            </a:r>
            <a:endParaRPr lang="en-US" sz="1400" dirty="0"/>
          </a:p>
        </p:txBody>
      </p:sp>
      <p:sp>
        <p:nvSpPr>
          <p:cNvPr id="14" name="2차시 circle"/>
          <p:cNvSpPr/>
          <p:nvPr/>
        </p:nvSpPr>
        <p:spPr>
          <a:xfrm>
            <a:off x="7086600" y="16002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2차시" descr="2차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4" y="18379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15:20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3108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2차시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휴대폰으로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뮤직비디오 편집</a:t>
            </a:r>
            <a:endParaRPr lang="en-US" sz="1400" dirty="0"/>
          </a:p>
        </p:txBody>
      </p:sp>
      <p:sp>
        <p:nvSpPr>
          <p:cNvPr id="19" name="상영회 circle"/>
          <p:cNvSpPr/>
          <p:nvPr/>
        </p:nvSpPr>
        <p:spPr>
          <a:xfrm>
            <a:off x="9921240" y="16002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상영회" descr="상영회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8984" y="183794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16:00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052560" y="3108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상영회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작품 감상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·마무리</a:t>
            </a:r>
            <a:endParaRPr lang="en-US" sz="1400" dirty="0"/>
          </a:p>
        </p:txBody>
      </p:sp>
      <p:sp>
        <p:nvSpPr>
          <p:cNvPr id="24" name="goal box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25" name="goal circle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goal" descr="go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" y="5207508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37360" y="4846320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오늘의 결과물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우리 모둠이 만든 노래 + 직접 찍은 영상 = 30초~1분 뮤직비디오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시작 전에 확인해요</a:t>
            </a:r>
            <a:endParaRPr lang="en-US" sz="3200" dirty="0"/>
          </a:p>
        </p:txBody>
      </p:sp>
      <p:sp>
        <p:nvSpPr>
          <p:cNvPr id="3" name="휴대폰 충전"/>
          <p:cNvSpPr/>
          <p:nvPr/>
        </p:nvSpPr>
        <p:spPr>
          <a:xfrm>
            <a:off x="54864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휴대폰 충전 circle"/>
          <p:cNvSpPr/>
          <p:nvPr/>
        </p:nvSpPr>
        <p:spPr>
          <a:xfrm>
            <a:off x="1371600" y="1737360"/>
            <a:ext cx="960120" cy="9601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휴대폰 충전" descr="휴대폰 충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1231" y="1986991"/>
            <a:ext cx="460858" cy="4608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80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휴대폰 충전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배터리 50% 이상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(부족하면 충전기 자리로)</a:t>
            </a:r>
            <a:endParaRPr lang="en-US" sz="1400" dirty="0"/>
          </a:p>
        </p:txBody>
      </p:sp>
      <p:sp>
        <p:nvSpPr>
          <p:cNvPr id="8" name="와이파이 연결"/>
          <p:cNvSpPr/>
          <p:nvPr/>
        </p:nvSpPr>
        <p:spPr>
          <a:xfrm>
            <a:off x="338328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와이파이 연결 circle"/>
          <p:cNvSpPr/>
          <p:nvPr/>
        </p:nvSpPr>
        <p:spPr>
          <a:xfrm>
            <a:off x="4206240" y="1737360"/>
            <a:ext cx="960120" cy="9601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0" name="와이파이 연결" descr="와이파이 연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871" y="198699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83280" y="2880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와이파이 연결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칠판에 적힌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학교 와이파이 접속</a:t>
            </a:r>
            <a:endParaRPr lang="en-US" sz="1400" dirty="0"/>
          </a:p>
        </p:txBody>
      </p:sp>
      <p:sp>
        <p:nvSpPr>
          <p:cNvPr id="13" name="CapCut 설치"/>
          <p:cNvSpPr/>
          <p:nvPr/>
        </p:nvSpPr>
        <p:spPr>
          <a:xfrm>
            <a:off x="621792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CapCut 설치 circle"/>
          <p:cNvSpPr/>
          <p:nvPr/>
        </p:nvSpPr>
        <p:spPr>
          <a:xfrm>
            <a:off x="7040880" y="1737360"/>
            <a:ext cx="960120" cy="9601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CapCut 설치" descr="CapCut 설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511" y="1986991"/>
            <a:ext cx="460858" cy="4608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880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CapCut 설치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앱스토어·플레이스토어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로그인 없이 사용</a:t>
            </a:r>
            <a:endParaRPr lang="en-US" sz="1400" dirty="0"/>
          </a:p>
        </p:txBody>
      </p:sp>
      <p:sp>
        <p:nvSpPr>
          <p:cNvPr id="18" name="활동지 · 필기구"/>
          <p:cNvSpPr/>
          <p:nvPr/>
        </p:nvSpPr>
        <p:spPr>
          <a:xfrm>
            <a:off x="9052560" y="1463040"/>
            <a:ext cx="2606040" cy="301752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9" name="활동지 · 필기구 circle"/>
          <p:cNvSpPr/>
          <p:nvPr/>
        </p:nvSpPr>
        <p:spPr>
          <a:xfrm>
            <a:off x="9875520" y="1737360"/>
            <a:ext cx="960120" cy="9601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활동지 · 필기구" descr="활동지 · 필기구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5151" y="1986991"/>
            <a:ext cx="460858" cy="4608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28803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활동지 · 필기구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모둠별로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활동지 받기</a:t>
            </a:r>
            <a:endParaRPr lang="en-US" sz="1400" dirty="0"/>
          </a:p>
        </p:txBody>
      </p:sp>
      <p:sp>
        <p:nvSpPr>
          <p:cNvPr id="23" name="no account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/>
        </p:spPr>
      </p:sp>
      <p:sp>
        <p:nvSpPr>
          <p:cNvPr id="24" name="no account circle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no account" descr="no accou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" y="5207508"/>
            <a:ext cx="329184" cy="32918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737360" y="4846320"/>
            <a:ext cx="9601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AI 사이트에 가입하지 않아요!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AI 생성은 선생님 계정으로 화면에서 함께 해요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생성형 AI는 어떻게 노래를 만들까?</a:t>
            </a:r>
            <a:endParaRPr lang="en-US" sz="3200" dirty="0"/>
          </a:p>
        </p:txBody>
      </p:sp>
      <p:sp>
        <p:nvSpPr>
          <p:cNvPr id="3" name="프롬프트 card"/>
          <p:cNvSpPr/>
          <p:nvPr/>
        </p:nvSpPr>
        <p:spPr>
          <a:xfrm>
            <a:off x="548640" y="1554480"/>
            <a:ext cx="32918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프롬프트 circle"/>
          <p:cNvSpPr/>
          <p:nvPr/>
        </p:nvSpPr>
        <p:spPr>
          <a:xfrm>
            <a:off x="1737360" y="178308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프롬프트" descr="프롬프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5104" y="20208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입력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프롬프트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657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"비 오는 날 듣는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잔잔한 피아노곡"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3931920" y="2834640"/>
            <a:ext cx="411480" cy="45720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0" name="AI 모델 card"/>
          <p:cNvSpPr/>
          <p:nvPr/>
        </p:nvSpPr>
        <p:spPr>
          <a:xfrm>
            <a:off x="4434840" y="1554480"/>
            <a:ext cx="32918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1" name="AI 모델 circle"/>
          <p:cNvSpPr/>
          <p:nvPr/>
        </p:nvSpPr>
        <p:spPr>
          <a:xfrm>
            <a:off x="562356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I 모델" descr="AI 모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0208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처리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43484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 모델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3657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수많은 음악을 학습한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패턴으로 새 노래 생성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7818120" y="2834640"/>
            <a:ext cx="411480" cy="45720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7" name="노래 완성 card"/>
          <p:cNvSpPr/>
          <p:nvPr/>
        </p:nvSpPr>
        <p:spPr>
          <a:xfrm>
            <a:off x="8321040" y="1554480"/>
            <a:ext cx="32918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8" name="노래 완성 circle"/>
          <p:cNvSpPr/>
          <p:nvPr/>
        </p:nvSpPr>
        <p:spPr>
          <a:xfrm>
            <a:off x="9509760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노래 완성" descr="노래 완성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504" y="2020824"/>
            <a:ext cx="438912" cy="4389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210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출력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3154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노래 완성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8503920" y="3657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가사와 목소리가 있는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노래가 1~2분 만에!</a:t>
            </a:r>
            <a:endParaRPr lang="en-US" sz="1400" dirty="0"/>
          </a:p>
        </p:txBody>
      </p:sp>
      <p:sp>
        <p:nvSpPr>
          <p:cNvPr id="23" name="key message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22960" y="49377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핵심!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AI에게 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구체적으로 말할수록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우리가 원하는 노래가 나와요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우리 모둠 역할 정하기</a:t>
            </a:r>
            <a:endParaRPr lang="en-US" sz="3200" dirty="0"/>
          </a:p>
        </p:txBody>
      </p:sp>
      <p:sp>
        <p:nvSpPr>
          <p:cNvPr id="3" name="작사가"/>
          <p:cNvSpPr/>
          <p:nvPr/>
        </p:nvSpPr>
        <p:spPr>
          <a:xfrm>
            <a:off x="548640" y="155448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작사가 circle"/>
          <p:cNvSpPr/>
          <p:nvPr/>
        </p:nvSpPr>
        <p:spPr>
          <a:xfrm>
            <a:off x="1051560" y="18288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작사가" descr="작사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090318"/>
            <a:ext cx="482803" cy="482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작사가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가사 8줄을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정리해요</a:t>
            </a:r>
            <a:endParaRPr lang="en-US" sz="1400" dirty="0"/>
          </a:p>
        </p:txBody>
      </p:sp>
      <p:sp>
        <p:nvSpPr>
          <p:cNvPr id="8" name="프롬프터"/>
          <p:cNvSpPr/>
          <p:nvPr/>
        </p:nvSpPr>
        <p:spPr>
          <a:xfrm>
            <a:off x="2807208" y="155448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프롬프터 circle"/>
          <p:cNvSpPr/>
          <p:nvPr/>
        </p:nvSpPr>
        <p:spPr>
          <a:xfrm>
            <a:off x="3310128" y="1828800"/>
            <a:ext cx="1005840" cy="10058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0" name="프롬프터" descr="프롬프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646" y="2090318"/>
            <a:ext cx="482803" cy="482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07208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프롬프터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3611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음악·이미지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프롬프트 완성</a:t>
            </a:r>
            <a:endParaRPr lang="en-US" sz="1400" dirty="0"/>
          </a:p>
        </p:txBody>
      </p:sp>
      <p:sp>
        <p:nvSpPr>
          <p:cNvPr id="13" name="감독"/>
          <p:cNvSpPr/>
          <p:nvPr/>
        </p:nvSpPr>
        <p:spPr>
          <a:xfrm>
            <a:off x="5065776" y="155448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감독 circle"/>
          <p:cNvSpPr/>
          <p:nvPr/>
        </p:nvSpPr>
        <p:spPr>
          <a:xfrm>
            <a:off x="5568696" y="182880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감독" descr="감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0214" y="2090318"/>
            <a:ext cx="482803" cy="48280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65776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감독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202936" y="3611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스토리보드와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촬영을 이끌어요</a:t>
            </a:r>
            <a:endParaRPr lang="en-US" sz="1400" dirty="0"/>
          </a:p>
        </p:txBody>
      </p:sp>
      <p:sp>
        <p:nvSpPr>
          <p:cNvPr id="18" name="편집자"/>
          <p:cNvSpPr/>
          <p:nvPr/>
        </p:nvSpPr>
        <p:spPr>
          <a:xfrm>
            <a:off x="7324344" y="155448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편집자 circle"/>
          <p:cNvSpPr/>
          <p:nvPr/>
        </p:nvSpPr>
        <p:spPr>
          <a:xfrm>
            <a:off x="7827264" y="182880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편집자" descr="편집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782" y="2090318"/>
            <a:ext cx="482803" cy="48280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24344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편집자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3611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CapCut으로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영상 편집</a:t>
            </a:r>
            <a:endParaRPr lang="en-US" sz="1400" dirty="0"/>
          </a:p>
        </p:txBody>
      </p:sp>
      <p:sp>
        <p:nvSpPr>
          <p:cNvPr id="23" name="발표자"/>
          <p:cNvSpPr/>
          <p:nvPr/>
        </p:nvSpPr>
        <p:spPr>
          <a:xfrm>
            <a:off x="9582912" y="1554480"/>
            <a:ext cx="2011680" cy="329184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발표자 circle"/>
          <p:cNvSpPr/>
          <p:nvPr/>
        </p:nvSpPr>
        <p:spPr>
          <a:xfrm>
            <a:off x="10085832" y="182880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발표자" descr="발표자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7350" y="2090318"/>
            <a:ext cx="482803" cy="48280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582912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발표자</a:t>
            </a:r>
            <a:endParaRPr lang="en-US" sz="1900" dirty="0"/>
          </a:p>
        </p:txBody>
      </p:sp>
      <p:sp>
        <p:nvSpPr>
          <p:cNvPr id="27" name="Text 20"/>
          <p:cNvSpPr txBox="1"/>
          <p:nvPr/>
        </p:nvSpPr>
        <p:spPr>
          <a:xfrm>
            <a:off x="9720072" y="3611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상영회에서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작품 소개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모둠 4~5명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4명 모둠은 발표자를 감독이 함께 맡아요. 활동지 맨 위 표에 이름을 적어요.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1차시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AI로 우리 모둠 노래 만들기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가사 8줄로 노래 한 곡 완성하기</a:t>
            </a:r>
            <a:endParaRPr lang="en-US" sz="2000" dirty="0"/>
          </a:p>
        </p:txBody>
      </p:sp>
      <p:sp>
        <p:nvSpPr>
          <p:cNvPr id="5" name="music circle"/>
          <p:cNvSpPr/>
          <p:nvPr/>
        </p:nvSpPr>
        <p:spPr>
          <a:xfrm>
            <a:off x="8778240" y="14630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music" descr="mus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8826" y="2033626"/>
            <a:ext cx="1053389" cy="1053389"/>
          </a:xfrm>
          <a:prstGeom prst="rect">
            <a:avLst/>
          </a:prstGeom>
        </p:spPr>
      </p:pic>
      <p:sp>
        <p:nvSpPr>
          <p:cNvPr id="7" name="equalizer bar 1"/>
          <p:cNvSpPr/>
          <p:nvPr/>
        </p:nvSpPr>
        <p:spPr>
          <a:xfrm>
            <a:off x="8458200" y="4663440"/>
            <a:ext cx="274320" cy="8229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8" name="equalizer bar 2"/>
          <p:cNvSpPr/>
          <p:nvPr/>
        </p:nvSpPr>
        <p:spPr>
          <a:xfrm>
            <a:off x="8915400" y="4023360"/>
            <a:ext cx="274320" cy="146304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9" name="equalizer bar 3"/>
          <p:cNvSpPr/>
          <p:nvPr/>
        </p:nvSpPr>
        <p:spPr>
          <a:xfrm>
            <a:off x="9372600" y="4389120"/>
            <a:ext cx="274320" cy="109728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10" name="equalizer bar 4"/>
          <p:cNvSpPr/>
          <p:nvPr/>
        </p:nvSpPr>
        <p:spPr>
          <a:xfrm>
            <a:off x="9829800" y="3657600"/>
            <a:ext cx="274320" cy="1828800"/>
          </a:xfrm>
          <a:prstGeom prst="roundRect">
            <a:avLst>
              <a:gd name="adj" fmla="val 26667"/>
            </a:avLst>
          </a:prstGeom>
          <a:solidFill>
            <a:schemeClr val="accent4"/>
          </a:solidFill>
          <a:ln/>
        </p:spPr>
      </p:sp>
      <p:sp>
        <p:nvSpPr>
          <p:cNvPr id="11" name="equalizer bar 5"/>
          <p:cNvSpPr/>
          <p:nvPr/>
        </p:nvSpPr>
        <p:spPr>
          <a:xfrm>
            <a:off x="10287000" y="4206240"/>
            <a:ext cx="274320" cy="1280160"/>
          </a:xfrm>
          <a:prstGeom prst="roundRect">
            <a:avLst>
              <a:gd name="adj" fmla="val 26667"/>
            </a:avLst>
          </a:prstGeom>
          <a:solidFill>
            <a:schemeClr val="accent5"/>
          </a:solidFill>
          <a:ln/>
        </p:spPr>
      </p:sp>
      <p:sp>
        <p:nvSpPr>
          <p:cNvPr id="12" name="equalizer bar 6"/>
          <p:cNvSpPr/>
          <p:nvPr/>
        </p:nvSpPr>
        <p:spPr>
          <a:xfrm>
            <a:off x="10744200" y="4754880"/>
            <a:ext cx="274320" cy="73152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오늘 노래는 이렇게 만들어요</a:t>
            </a:r>
            <a:endParaRPr lang="en-US" sz="3200" dirty="0"/>
          </a:p>
        </p:txBody>
      </p:sp>
      <p:sp>
        <p:nvSpPr>
          <p:cNvPr id="3" name="모둠이 기획"/>
          <p:cNvSpPr/>
          <p:nvPr/>
        </p:nvSpPr>
        <p:spPr>
          <a:xfrm>
            <a:off x="548640" y="1463040"/>
            <a:ext cx="2514600" cy="365760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4" name="모둠이 기획 circle"/>
          <p:cNvSpPr/>
          <p:nvPr/>
        </p:nvSpPr>
        <p:spPr>
          <a:xfrm>
            <a:off x="1325880" y="173736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모둠이 기획" descr="모둠이 기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5511" y="1986991"/>
            <a:ext cx="460858" cy="4608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STEP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모둠이 기획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활동지에 프롬프트와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가사 8줄 쓰기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3108960" y="3108960"/>
            <a:ext cx="228600" cy="36576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0" name="선생님이 생성"/>
          <p:cNvSpPr/>
          <p:nvPr/>
        </p:nvSpPr>
        <p:spPr>
          <a:xfrm>
            <a:off x="3383280" y="1463040"/>
            <a:ext cx="2514600" cy="365760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11" name="선생님이 생성 circle"/>
          <p:cNvSpPr/>
          <p:nvPr/>
        </p:nvSpPr>
        <p:spPr>
          <a:xfrm>
            <a:off x="4160520" y="1737360"/>
            <a:ext cx="960120" cy="9601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선생님이 생성" descr="선생님이 생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151" y="1986991"/>
            <a:ext cx="460858" cy="46085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83280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STEP 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선생님이 생성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음악 도구 Suno로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화면에서 바로 생성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5943600" y="3108960"/>
            <a:ext cx="228600" cy="36576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7" name="다 함께 감상"/>
          <p:cNvSpPr/>
          <p:nvPr/>
        </p:nvSpPr>
        <p:spPr>
          <a:xfrm>
            <a:off x="6217920" y="1463040"/>
            <a:ext cx="2514600" cy="365760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18" name="다 함께 감상 circle"/>
          <p:cNvSpPr/>
          <p:nvPr/>
        </p:nvSpPr>
        <p:spPr>
          <a:xfrm>
            <a:off x="6995160" y="1737360"/>
            <a:ext cx="960120" cy="9601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다 함께 감상" descr="다 함께 감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91" y="1986991"/>
            <a:ext cx="460858" cy="46085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217920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다 함께 감상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635508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두 곡 중 마음에 드는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 곡을 골라요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8778240" y="3108960"/>
            <a:ext cx="228600" cy="36576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4" name="패들렛으로 받기"/>
          <p:cNvSpPr/>
          <p:nvPr/>
        </p:nvSpPr>
        <p:spPr>
          <a:xfrm>
            <a:off x="9052560" y="1463040"/>
            <a:ext cx="2514600" cy="3657600"/>
          </a:xfrm>
          <a:prstGeom prst="roundRect">
            <a:avLst>
              <a:gd name="adj" fmla="val 5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5">
                <a:alpha val="12000"/>
              </a:srgbClr>
            </a:outerShdw>
          </a:effectLst>
        </p:spPr>
      </p:sp>
      <p:sp>
        <p:nvSpPr>
          <p:cNvPr id="25" name="패들렛으로 받기 circle"/>
          <p:cNvSpPr/>
          <p:nvPr/>
        </p:nvSpPr>
        <p:spPr>
          <a:xfrm>
            <a:off x="9829800" y="1737360"/>
            <a:ext cx="960120" cy="9601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패들렛으로 받기" descr="패들렛으로 받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9431" y="1986991"/>
            <a:ext cx="460858" cy="46085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052560" y="2880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STEP 4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905256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패들렛으로 받기</a:t>
            </a:r>
            <a:endParaRPr lang="en-US" sz="1900" dirty="0"/>
          </a:p>
        </p:txBody>
      </p:sp>
      <p:sp>
        <p:nvSpPr>
          <p:cNvPr id="29" name="Text 23"/>
          <p:cNvSpPr txBox="1"/>
          <p:nvPr/>
        </p:nvSpPr>
        <p:spPr>
          <a:xfrm>
            <a:off x="9189720" y="37490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QR을 찍어 노래 파일을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휴대폰에 저장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※ 오늘 만든 노래는 개인 감상용이에요. 판매하거나 수익 채널에 올리면 안 돼요 (무료 플랜 약관)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음악 프롬프트 공식</a:t>
            </a:r>
            <a:endParaRPr lang="en-US" sz="3200" dirty="0"/>
          </a:p>
        </p:txBody>
      </p:sp>
      <p:sp>
        <p:nvSpPr>
          <p:cNvPr id="3" name="장르"/>
          <p:cNvSpPr/>
          <p:nvPr/>
        </p:nvSpPr>
        <p:spPr>
          <a:xfrm>
            <a:off x="54864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장르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K-pop 댄스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7" name="분위기"/>
          <p:cNvSpPr/>
          <p:nvPr/>
        </p:nvSpPr>
        <p:spPr>
          <a:xfrm>
            <a:off x="242316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2316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분위기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신나는, 청량한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11" name="악기"/>
          <p:cNvSpPr/>
          <p:nvPr/>
        </p:nvSpPr>
        <p:spPr>
          <a:xfrm>
            <a:off x="429768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9768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악기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신스, 강한 드럼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15" name="템포"/>
          <p:cNvSpPr/>
          <p:nvPr/>
        </p:nvSpPr>
        <p:spPr>
          <a:xfrm>
            <a:off x="617220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템포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빠른 템포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19" name="보컬"/>
          <p:cNvSpPr/>
          <p:nvPr/>
        </p:nvSpPr>
        <p:spPr>
          <a:xfrm>
            <a:off x="804672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보컬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맑은 여성 보컬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46920" y="160020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+</a:t>
            </a:r>
            <a:endParaRPr lang="en-US" sz="2400" dirty="0"/>
          </a:p>
        </p:txBody>
      </p:sp>
      <p:sp>
        <p:nvSpPr>
          <p:cNvPr id="23" name="주제"/>
          <p:cNvSpPr/>
          <p:nvPr/>
        </p:nvSpPr>
        <p:spPr>
          <a:xfrm>
            <a:off x="9921240" y="1600200"/>
            <a:ext cx="1600200" cy="914400"/>
          </a:xfrm>
          <a:prstGeom prst="roundRect">
            <a:avLst>
              <a:gd name="adj" fmla="val 14000"/>
            </a:avLst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921240" y="16002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주제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921240" y="26517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친구와의 우정</a:t>
            </a:r>
            <a:endParaRPr lang="en-US" sz="1400" dirty="0"/>
          </a:p>
        </p:txBody>
      </p:sp>
      <p:sp>
        <p:nvSpPr>
          <p:cNvPr id="26" name="example prompt"/>
          <p:cNvSpPr/>
          <p:nvPr/>
        </p:nvSpPr>
        <p:spPr>
          <a:xfrm>
            <a:off x="548640" y="370332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tx1"/>
          </a:solidFill>
          <a:ln/>
        </p:spPr>
      </p:sp>
      <p:sp>
        <p:nvSpPr>
          <p:cNvPr id="27" name="prompt circle"/>
          <p:cNvSpPr/>
          <p:nvPr/>
        </p:nvSpPr>
        <p:spPr>
          <a:xfrm>
            <a:off x="868680" y="3977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prompt" descr="prom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4155948"/>
            <a:ext cx="329184" cy="329184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7830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완성된 프롬프트 예시  (활동지 STEP 2)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783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"신나고 청량한 K-pop 댄스곡, 밝은 신스와 강한 드럼, 빠른 템포,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맑은 여성 보컬, 중학교 친구들과의 우정에 대한 노래"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아쉬운 프롬프트 vs 좋은 프롬프트</a:t>
            </a:r>
            <a:endParaRPr lang="en-US" sz="3200" dirty="0"/>
          </a:p>
        </p:txBody>
      </p:sp>
      <p:sp>
        <p:nvSpPr>
          <p:cNvPr id="3" name="아쉬운 프롬프트"/>
          <p:cNvSpPr/>
          <p:nvPr/>
        </p:nvSpPr>
        <p:spPr>
          <a:xfrm>
            <a:off x="548640" y="1463040"/>
            <a:ext cx="53949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4" name="아쉬운 프롬프트 circle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아쉬운 프롬프트" descr="아쉬운 프롬프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91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아쉬운 프롬프트</a:t>
            </a:r>
            <a:endParaRPr lang="en-US" sz="2200" dirty="0"/>
          </a:p>
        </p:txBody>
      </p:sp>
      <p:sp>
        <p:nvSpPr>
          <p:cNvPr id="7" name="prompt box"/>
          <p:cNvSpPr/>
          <p:nvPr/>
        </p:nvSpPr>
        <p:spPr>
          <a:xfrm>
            <a:off x="868680" y="2560320"/>
            <a:ext cx="475488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5603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"좋은 노래 만들어줘"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1605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장르·분위기 정보가 없음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AI가 마음대로 골라 결과 예측 불가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우리가 원하는 느낌과 거리가 멂</a:t>
            </a:r>
            <a:endParaRPr lang="en-US" sz="1500" dirty="0"/>
          </a:p>
        </p:txBody>
      </p:sp>
      <p:sp>
        <p:nvSpPr>
          <p:cNvPr id="10" name="좋은 프롬프트"/>
          <p:cNvSpPr/>
          <p:nvPr/>
        </p:nvSpPr>
        <p:spPr>
          <a:xfrm>
            <a:off x="6217920" y="1463040"/>
            <a:ext cx="53949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11" name="좋은 프롬프트 circle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좋은 프롬프트" descr="좋은 프롬프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381" y="18580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60920" y="1691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좋은 프롬프트</a:t>
            </a:r>
            <a:endParaRPr lang="en-US" sz="2200" dirty="0"/>
          </a:p>
        </p:txBody>
      </p:sp>
      <p:sp>
        <p:nvSpPr>
          <p:cNvPr id="14" name="prompt box"/>
          <p:cNvSpPr/>
          <p:nvPr/>
        </p:nvSpPr>
        <p:spPr>
          <a:xfrm>
            <a:off x="6537960" y="2560320"/>
            <a:ext cx="4754880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766560" y="25603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"비 오는 날 창가에서 듣는 잔잔한 로파이, 피아노와 빗소리, 느린 템포, 보컬 없음"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41605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장면이 떠오르는 구체적 묘사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악기·템포·보컬 여부까지 지정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여러 번 만들어도 느낌이 비슷함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가사는 태그로 흐름을 잡아요</a:t>
            </a:r>
            <a:endParaRPr lang="en-US" sz="3200" dirty="0"/>
          </a:p>
        </p:txBody>
      </p:sp>
      <p:sp>
        <p:nvSpPr>
          <p:cNvPr id="3" name="lyrics box"/>
          <p:cNvSpPr/>
          <p:nvPr/>
        </p:nvSpPr>
        <p:spPr>
          <a:xfrm>
            <a:off x="548640" y="1463040"/>
            <a:ext cx="5120640" cy="4434840"/>
          </a:xfrm>
          <a:prstGeom prst="roundRect">
            <a:avLst>
              <a:gd name="adj" fmla="val 2474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4480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accent4"/>
                </a:solidFill>
              </a:rPr>
              <a:t>[Verse]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종이 울리면 창문을 열어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우리 웃음이 바람을 타고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복도 끝까지 달려가면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오늘도 우린 빛나고 있어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chemeClr val="accent2"/>
                </a:solidFill>
              </a:rPr>
              <a:t>[Chorus]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지금 이 순간 우리가 주인공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함께라면 어디든 갈 수 있어</a:t>
            </a:r>
            <a:endParaRPr lang="en-US" sz="1700" dirty="0"/>
          </a:p>
        </p:txBody>
      </p:sp>
      <p:sp>
        <p:nvSpPr>
          <p:cNvPr id="5" name="태그 넣기 circle"/>
          <p:cNvSpPr/>
          <p:nvPr/>
        </p:nvSpPr>
        <p:spPr>
          <a:xfrm>
            <a:off x="6217920" y="16002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태그 넣기" descr="태그 넣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0002" y="180228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22376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태그 넣기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20574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[Verse] 이야기 부분 · [Chorus] 후렴 부분</a:t>
            </a:r>
            <a:endParaRPr lang="en-US" sz="1400" dirty="0"/>
          </a:p>
        </p:txBody>
      </p:sp>
      <p:sp>
        <p:nvSpPr>
          <p:cNvPr id="9" name="후렴은 짧고 반복되게 circle"/>
          <p:cNvSpPr/>
          <p:nvPr/>
        </p:nvSpPr>
        <p:spPr>
          <a:xfrm>
            <a:off x="6217920" y="30632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후렴은 짧고 반복되게" descr="후렴은 짧고 반복되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002" y="3265322"/>
            <a:ext cx="373075" cy="37307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3063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후렴은 짧고 반복되게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35204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 번 들어도 따라 부를 수 있는 2~4줄</a:t>
            </a:r>
            <a:endParaRPr lang="en-US" sz="1400" dirty="0"/>
          </a:p>
        </p:txBody>
      </p:sp>
      <p:sp>
        <p:nvSpPr>
          <p:cNvPr id="13" name="실제 이름은 넣지 않기 circle"/>
          <p:cNvSpPr/>
          <p:nvPr/>
        </p:nvSpPr>
        <p:spPr>
          <a:xfrm>
            <a:off x="6217920" y="45262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실제 이름은 넣지 않기" descr="실제 이름은 넣지 않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002" y="4728362"/>
            <a:ext cx="373075" cy="37307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23760" y="45262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실제 이름은 넣지 않기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223760" y="49834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친구·연예인 이름 대신 '우리', '너'로 써요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모둠 활동 · 활동지 STEP 1~4</a:t>
            </a:r>
            <a:endParaRPr lang="en-US" sz="3200" dirty="0"/>
          </a:p>
        </p:txBody>
      </p:sp>
      <p:sp>
        <p:nvSpPr>
          <p:cNvPr id="3" name="step card 1"/>
          <p:cNvSpPr/>
          <p:nvPr/>
        </p:nvSpPr>
        <p:spPr>
          <a:xfrm>
            <a:off x="548640" y="146304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4" name="step 1"/>
          <p:cNvSpPr/>
          <p:nvPr/>
        </p:nvSpPr>
        <p:spPr>
          <a:xfrm>
            <a:off x="777240" y="161848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주제 고르기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14630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우리 학교, 나의 꿈, 친구와 우정, 좋아하는 계절 중 하나</a:t>
            </a:r>
            <a:endParaRPr lang="en-US" sz="1400" dirty="0"/>
          </a:p>
        </p:txBody>
      </p:sp>
      <p:sp>
        <p:nvSpPr>
          <p:cNvPr id="8" name="step card 2"/>
          <p:cNvSpPr/>
          <p:nvPr/>
        </p:nvSpPr>
        <p:spPr>
          <a:xfrm>
            <a:off x="548640" y="256032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9" name="step 2"/>
          <p:cNvSpPr/>
          <p:nvPr/>
        </p:nvSpPr>
        <p:spPr>
          <a:xfrm>
            <a:off x="777240" y="271576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157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프롬프트 만들기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5603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여섯 칸(장르·분위기·악기·템포·보컬·주제) 채우기</a:t>
            </a:r>
            <a:endParaRPr lang="en-US" sz="1400" dirty="0"/>
          </a:p>
        </p:txBody>
      </p:sp>
      <p:sp>
        <p:nvSpPr>
          <p:cNvPr id="13" name="step card 3"/>
          <p:cNvSpPr/>
          <p:nvPr/>
        </p:nvSpPr>
        <p:spPr>
          <a:xfrm>
            <a:off x="548640" y="365760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4" name="step 3"/>
          <p:cNvSpPr/>
          <p:nvPr/>
        </p:nvSpPr>
        <p:spPr>
          <a:xfrm>
            <a:off x="777240" y="381304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813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가사 쓰기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36576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[Verse] 4줄 + [Chorus] 4줄, 모두 8줄</a:t>
            </a:r>
            <a:endParaRPr lang="en-US" sz="1400" dirty="0"/>
          </a:p>
        </p:txBody>
      </p:sp>
      <p:sp>
        <p:nvSpPr>
          <p:cNvPr id="18" name="step card 4"/>
          <p:cNvSpPr/>
          <p:nvPr/>
        </p:nvSpPr>
        <p:spPr>
          <a:xfrm>
            <a:off x="548640" y="4754880"/>
            <a:ext cx="8503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9" name="step 4"/>
          <p:cNvSpPr/>
          <p:nvPr/>
        </p:nvSpPr>
        <p:spPr>
          <a:xfrm>
            <a:off x="777240" y="4910328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910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7548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4컷 스토리보드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47548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노래 구간마다 찍을 장면을 그림과 글로 설계</a:t>
            </a:r>
            <a:endParaRPr lang="en-US" sz="1400" dirty="0"/>
          </a:p>
        </p:txBody>
      </p:sp>
      <p:sp>
        <p:nvSpPr>
          <p:cNvPr id="23" name="timer"/>
          <p:cNvSpPr/>
          <p:nvPr/>
        </p:nvSpPr>
        <p:spPr>
          <a:xfrm>
            <a:off x="9601200" y="146304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0120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0" y="18470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15분</a:t>
            </a:r>
            <a:endParaRPr lang="en-US" sz="2800" dirty="0"/>
          </a:p>
        </p:txBody>
      </p:sp>
      <p:sp>
        <p:nvSpPr>
          <p:cNvPr id="26" name="raise hand circle"/>
          <p:cNvSpPr/>
          <p:nvPr/>
        </p:nvSpPr>
        <p:spPr>
          <a:xfrm>
            <a:off x="10012680" y="2926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raise hand" descr="raise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1747" y="3235147"/>
            <a:ext cx="570586" cy="57058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326880" y="4251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STEP 3까지 끝나면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손을 들어 주세요!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AI 노래 발표회</a:t>
            </a:r>
            <a:endParaRPr lang="en-US" sz="3200" dirty="0"/>
          </a:p>
        </p:txBody>
      </p:sp>
      <p:sp>
        <p:nvSpPr>
          <p:cNvPr id="3" name="process"/>
          <p:cNvSpPr/>
          <p:nvPr/>
        </p:nvSpPr>
        <p:spPr>
          <a:xfrm>
            <a:off x="548640" y="1463040"/>
            <a:ext cx="548640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이렇게 진행해요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프롬프터가 프롬프트와 가사를 읽어 줘요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선생님이 화면에서 바로 노래를 생성해요 (1~2분)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두 곡을 듣고 모둠이 한 곡을 골라요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다른 모둠은 박수로 응원해요</a:t>
            </a:r>
            <a:endParaRPr lang="en-US" sz="1600" dirty="0"/>
          </a:p>
        </p:txBody>
      </p:sp>
      <p:sp>
        <p:nvSpPr>
          <p:cNvPr id="6" name="listen points"/>
          <p:cNvSpPr/>
          <p:nvPr/>
        </p:nvSpPr>
        <p:spPr>
          <a:xfrm>
            <a:off x="6400800" y="1463040"/>
            <a:ext cx="5212080" cy="4434840"/>
          </a:xfrm>
          <a:prstGeom prst="roundRect">
            <a:avLst>
              <a:gd name="adj" fmla="val 2474"/>
            </a:avLst>
          </a:prstGeom>
          <a:solidFill>
            <a:schemeClr val="tx1"/>
          </a:solidFill>
          <a:ln/>
        </p:spPr>
      </p:sp>
      <p:sp>
        <p:nvSpPr>
          <p:cNvPr id="7" name="listen circle"/>
          <p:cNvSpPr/>
          <p:nvPr/>
        </p:nvSpPr>
        <p:spPr>
          <a:xfrm>
            <a:off x="6720840" y="17373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listen" descr="list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1035" y="1927555"/>
            <a:ext cx="351130" cy="3511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들으면서 생각해요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274320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우리가 쓴 프롬프트대로 나왔나요?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가사가 잘 들리나요?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어떤 장면이 떠오르나요?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2"/>
                </a:solidFill>
              </a:rPr>
              <a:t>스토리보드에 바로 적어 두기!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2차시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휴대폰으로 뮤직비디오 편집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우리 노래에 어울리는 장면 찍고 편집하기</a:t>
            </a:r>
            <a:endParaRPr lang="en-US" sz="2000" dirty="0"/>
          </a:p>
        </p:txBody>
      </p:sp>
      <p:sp>
        <p:nvSpPr>
          <p:cNvPr id="5" name="phone circle"/>
          <p:cNvSpPr/>
          <p:nvPr/>
        </p:nvSpPr>
        <p:spPr>
          <a:xfrm>
            <a:off x="8778240" y="1463040"/>
            <a:ext cx="2194560" cy="21945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hone" descr="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8826" y="2033626"/>
            <a:ext cx="1053389" cy="1053389"/>
          </a:xfrm>
          <a:prstGeom prst="rect">
            <a:avLst/>
          </a:prstGeom>
        </p:spPr>
      </p:pic>
      <p:sp>
        <p:nvSpPr>
          <p:cNvPr id="7" name="equalizer bar 1"/>
          <p:cNvSpPr/>
          <p:nvPr/>
        </p:nvSpPr>
        <p:spPr>
          <a:xfrm>
            <a:off x="8458200" y="4206240"/>
            <a:ext cx="274320" cy="128016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8" name="equalizer bar 2"/>
          <p:cNvSpPr/>
          <p:nvPr/>
        </p:nvSpPr>
        <p:spPr>
          <a:xfrm>
            <a:off x="8915400" y="4663440"/>
            <a:ext cx="274320" cy="822960"/>
          </a:xfrm>
          <a:prstGeom prst="roundRect">
            <a:avLst>
              <a:gd name="adj" fmla="val 26667"/>
            </a:avLst>
          </a:prstGeom>
          <a:solidFill>
            <a:schemeClr val="accent2"/>
          </a:solidFill>
          <a:ln/>
        </p:spPr>
      </p:sp>
      <p:sp>
        <p:nvSpPr>
          <p:cNvPr id="9" name="equalizer bar 3"/>
          <p:cNvSpPr/>
          <p:nvPr/>
        </p:nvSpPr>
        <p:spPr>
          <a:xfrm>
            <a:off x="9372600" y="3657600"/>
            <a:ext cx="274320" cy="1828800"/>
          </a:xfrm>
          <a:prstGeom prst="roundRect">
            <a:avLst>
              <a:gd name="adj" fmla="val 26667"/>
            </a:avLst>
          </a:prstGeom>
          <a:solidFill>
            <a:schemeClr val="accent3"/>
          </a:solidFill>
          <a:ln/>
        </p:spPr>
      </p:sp>
      <p:sp>
        <p:nvSpPr>
          <p:cNvPr id="10" name="equalizer bar 4"/>
          <p:cNvSpPr/>
          <p:nvPr/>
        </p:nvSpPr>
        <p:spPr>
          <a:xfrm>
            <a:off x="9829800" y="4389120"/>
            <a:ext cx="274320" cy="1097280"/>
          </a:xfrm>
          <a:prstGeom prst="roundRect">
            <a:avLst>
              <a:gd name="adj" fmla="val 26667"/>
            </a:avLst>
          </a:prstGeom>
          <a:solidFill>
            <a:schemeClr val="accent4"/>
          </a:solidFill>
          <a:ln/>
        </p:spPr>
      </p:sp>
      <p:sp>
        <p:nvSpPr>
          <p:cNvPr id="11" name="equalizer bar 5"/>
          <p:cNvSpPr/>
          <p:nvPr/>
        </p:nvSpPr>
        <p:spPr>
          <a:xfrm>
            <a:off x="10287000" y="3931920"/>
            <a:ext cx="274320" cy="1554480"/>
          </a:xfrm>
          <a:prstGeom prst="roundRect">
            <a:avLst>
              <a:gd name="adj" fmla="val 26667"/>
            </a:avLst>
          </a:prstGeom>
          <a:solidFill>
            <a:schemeClr val="accent5"/>
          </a:solidFill>
          <a:ln/>
        </p:spPr>
      </p:sp>
      <p:sp>
        <p:nvSpPr>
          <p:cNvPr id="12" name="equalizer bar 6"/>
          <p:cNvSpPr/>
          <p:nvPr/>
        </p:nvSpPr>
        <p:spPr>
          <a:xfrm>
            <a:off x="10744200" y="4572000"/>
            <a:ext cx="274320" cy="914400"/>
          </a:xfrm>
          <a:prstGeom prst="roundRect">
            <a:avLst>
              <a:gd name="adj" fmla="val 26667"/>
            </a:avLst>
          </a:prstGeom>
          <a:solidFill>
            <a:schemeClr val="accent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패들렛에서 노래 파일 받기</a:t>
            </a:r>
            <a:endParaRPr lang="en-US" sz="3200" dirty="0"/>
          </a:p>
        </p:txBody>
      </p:sp>
      <p:sp>
        <p:nvSpPr>
          <p:cNvPr id="3" name="안드로이드 (갤럭시)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4" name="안드로이드 (갤럭시) circle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안드로이드 (갤럭시)" descr="안드로이드 (갤럭시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88183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3"/>
                </a:solidFill>
              </a:rPr>
              <a:t>안드로이드 (갤럭시)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65176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카메라로 칠판의 QR 찍기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우리 모둠 노래 → 다운로드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'내 파일 → 다운로드' 폴더에 저장돼요</a:t>
            </a:r>
            <a:endParaRPr lang="en-US" sz="1600" dirty="0"/>
          </a:p>
        </p:txBody>
      </p:sp>
      <p:sp>
        <p:nvSpPr>
          <p:cNvPr id="8" name="아이폰"/>
          <p:cNvSpPr/>
          <p:nvPr/>
        </p:nvSpPr>
        <p:spPr>
          <a:xfrm>
            <a:off x="6217920" y="1463040"/>
            <a:ext cx="53949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9" name="아이폰 circle"/>
          <p:cNvSpPr/>
          <p:nvPr/>
        </p:nvSpPr>
        <p:spPr>
          <a:xfrm>
            <a:off x="6537960" y="1691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0" name="아이폰" descr="아이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8183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52360" y="16916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아이폰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29400" y="265176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카메라로 칠판의 QR 찍기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노래 → 공유 버튼 → '파일에 저장'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'파일' 앱에 저장돼요</a:t>
            </a:r>
            <a:endParaRPr lang="en-US" sz="1600" dirty="0"/>
          </a:p>
        </p:txBody>
      </p:sp>
      <p:sp>
        <p:nvSpPr>
          <p:cNvPr id="13" name="capcut audio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/>
        </p:spPr>
      </p:sp>
      <p:sp>
        <p:nvSpPr>
          <p:cNvPr id="14" name="capcut audio circle"/>
          <p:cNvSpPr/>
          <p:nvPr/>
        </p:nvSpPr>
        <p:spPr>
          <a:xfrm>
            <a:off x="82296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capcut audio" descr="capcut au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52532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93776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CapCut에서는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오디오 → 사운드 → '기기(내 파일)'에서 저장한 노래를 찾아요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스토리보드대로 촬영해요</a:t>
            </a:r>
            <a:endParaRPr lang="en-US" sz="3200" dirty="0"/>
          </a:p>
        </p:txBody>
      </p:sp>
      <p:sp>
        <p:nvSpPr>
          <p:cNvPr id="3" name="얼굴 대신"/>
          <p:cNvSpPr/>
          <p:nvPr/>
        </p:nvSpPr>
        <p:spPr>
          <a:xfrm>
            <a:off x="548640" y="1463040"/>
            <a:ext cx="40690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얼굴 대신 circle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얼굴 대신" descr="얼굴 대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0089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6596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얼굴 대신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22860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손, 뒷모습, 그림자,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사물, 풍경으로 표현</a:t>
            </a:r>
            <a:endParaRPr lang="en-US" sz="1400" dirty="0"/>
          </a:p>
        </p:txBody>
      </p:sp>
      <p:sp>
        <p:nvSpPr>
          <p:cNvPr id="8" name="세로로 찍기"/>
          <p:cNvSpPr/>
          <p:nvPr/>
        </p:nvSpPr>
        <p:spPr>
          <a:xfrm>
            <a:off x="4846320" y="1463040"/>
            <a:ext cx="40690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세로로 찍기 circle"/>
          <p:cNvSpPr/>
          <p:nvPr/>
        </p:nvSpPr>
        <p:spPr>
          <a:xfrm>
            <a:off x="516636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세로로 찍기" descr="세로로 찍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217" y="200893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63640" y="17830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세로로 찍기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263640" y="22860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쇼츠처럼 세로(9:16)로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통일해요</a:t>
            </a:r>
            <a:endParaRPr lang="en-US" sz="1400" dirty="0"/>
          </a:p>
        </p:txBody>
      </p:sp>
      <p:sp>
        <p:nvSpPr>
          <p:cNvPr id="13" name="한 컷 3~5초"/>
          <p:cNvSpPr/>
          <p:nvPr/>
        </p:nvSpPr>
        <p:spPr>
          <a:xfrm>
            <a:off x="548640" y="3703320"/>
            <a:ext cx="40690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한 컷 3~5초 circle"/>
          <p:cNvSpPr/>
          <p:nvPr/>
        </p:nvSpPr>
        <p:spPr>
          <a:xfrm>
            <a:off x="868680" y="40233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한 컷 3~5초" descr="한 컷 3~5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537" y="4249217"/>
            <a:ext cx="416966" cy="4169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6596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한 컷 3~5초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965960" y="45262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흔들리지 않게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천천히 움직여요</a:t>
            </a:r>
            <a:endParaRPr lang="en-US" sz="1400" dirty="0"/>
          </a:p>
        </p:txBody>
      </p:sp>
      <p:sp>
        <p:nvSpPr>
          <p:cNvPr id="18" name="밝은 곳에서"/>
          <p:cNvSpPr/>
          <p:nvPr/>
        </p:nvSpPr>
        <p:spPr>
          <a:xfrm>
            <a:off x="4846320" y="3703320"/>
            <a:ext cx="40690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밝은 곳에서 circle"/>
          <p:cNvSpPr/>
          <p:nvPr/>
        </p:nvSpPr>
        <p:spPr>
          <a:xfrm>
            <a:off x="5166360" y="40233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밝은 곳에서" descr="밝은 곳에서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2217" y="4249217"/>
            <a:ext cx="416966" cy="41696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636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밝은 곳에서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263640" y="45262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창가·복도처럼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빛이 있는 곳</a:t>
            </a:r>
            <a:endParaRPr lang="en-US" sz="1400" dirty="0"/>
          </a:p>
        </p:txBody>
      </p:sp>
      <p:sp>
        <p:nvSpPr>
          <p:cNvPr id="23" name="timer"/>
          <p:cNvSpPr/>
          <p:nvPr/>
        </p:nvSpPr>
        <p:spPr>
          <a:xfrm>
            <a:off x="9601200" y="146304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960120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0" y="18470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10분</a:t>
            </a:r>
            <a:endParaRPr lang="en-US" sz="2800" dirty="0"/>
          </a:p>
        </p:txBody>
      </p:sp>
      <p:sp>
        <p:nvSpPr>
          <p:cNvPr id="26" name="camera circle"/>
          <p:cNvSpPr/>
          <p:nvPr/>
        </p:nvSpPr>
        <p:spPr>
          <a:xfrm>
            <a:off x="10012680" y="2926080"/>
            <a:ext cx="1188720" cy="11887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7" name="camera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1747" y="3235147"/>
            <a:ext cx="570586" cy="57058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326880" y="4251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4~6컷 찍기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교실·복도만!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CapCut 편집 5단계</a:t>
            </a:r>
            <a:endParaRPr lang="en-US" sz="3200" dirty="0"/>
          </a:p>
        </p:txBody>
      </p:sp>
      <p:sp>
        <p:nvSpPr>
          <p:cNvPr id="3" name="step card 1"/>
          <p:cNvSpPr/>
          <p:nvPr/>
        </p:nvSpPr>
        <p:spPr>
          <a:xfrm>
            <a:off x="548640" y="14173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4" name="step 1"/>
          <p:cNvSpPr/>
          <p:nvPr/>
        </p:nvSpPr>
        <p:spPr>
          <a:xfrm>
            <a:off x="749808" y="15270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4173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새 프로젝트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4173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찍은 사진·영상을 스토리보드 순서대로 선택</a:t>
            </a:r>
            <a:endParaRPr lang="en-US" sz="1400" dirty="0"/>
          </a:p>
        </p:txBody>
      </p:sp>
      <p:sp>
        <p:nvSpPr>
          <p:cNvPr id="8" name="step card 2"/>
          <p:cNvSpPr/>
          <p:nvPr/>
        </p:nvSpPr>
        <p:spPr>
          <a:xfrm>
            <a:off x="548640" y="23317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9" name="step 2"/>
          <p:cNvSpPr/>
          <p:nvPr/>
        </p:nvSpPr>
        <p:spPr>
          <a:xfrm>
            <a:off x="749808" y="24414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808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3317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노래 넣기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3317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오디오 → 사운드 → 기기에서 우리 모둠 노래</a:t>
            </a:r>
            <a:endParaRPr lang="en-US" sz="1400" dirty="0"/>
          </a:p>
        </p:txBody>
      </p:sp>
      <p:sp>
        <p:nvSpPr>
          <p:cNvPr id="13" name="step card 3"/>
          <p:cNvSpPr/>
          <p:nvPr/>
        </p:nvSpPr>
        <p:spPr>
          <a:xfrm>
            <a:off x="548640" y="32461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4" name="step 3"/>
          <p:cNvSpPr/>
          <p:nvPr/>
        </p:nvSpPr>
        <p:spPr>
          <a:xfrm>
            <a:off x="749808" y="33558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2461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박자에 맞춰 자르기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32461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클립 선택 → 분할, 길게 눌러 순서 바꾸기</a:t>
            </a:r>
            <a:endParaRPr lang="en-US" sz="1400" dirty="0"/>
          </a:p>
        </p:txBody>
      </p:sp>
      <p:sp>
        <p:nvSpPr>
          <p:cNvPr id="18" name="step card 4"/>
          <p:cNvSpPr/>
          <p:nvPr/>
        </p:nvSpPr>
        <p:spPr>
          <a:xfrm>
            <a:off x="548640" y="41605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9" name="step 4"/>
          <p:cNvSpPr/>
          <p:nvPr/>
        </p:nvSpPr>
        <p:spPr>
          <a:xfrm>
            <a:off x="749808" y="42702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" y="4270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1605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자막 · 효과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1605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텍스트로 제목·후렴 가사, 필터로 색감 통일</a:t>
            </a:r>
            <a:endParaRPr lang="en-US" sz="1400" dirty="0"/>
          </a:p>
        </p:txBody>
      </p:sp>
      <p:sp>
        <p:nvSpPr>
          <p:cNvPr id="23" name="step card 5"/>
          <p:cNvSpPr/>
          <p:nvPr/>
        </p:nvSpPr>
        <p:spPr>
          <a:xfrm>
            <a:off x="548640" y="5074920"/>
            <a:ext cx="850392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4" name="step 5"/>
          <p:cNvSpPr/>
          <p:nvPr/>
        </p:nvSpPr>
        <p:spPr>
          <a:xfrm>
            <a:off x="749808" y="51846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" y="5184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0749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내보내기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5074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오른쪽 위 내보내기 → 패들렛에 올리기</a:t>
            </a:r>
            <a:endParaRPr lang="en-US" sz="1400" dirty="0"/>
          </a:p>
        </p:txBody>
      </p:sp>
      <p:sp>
        <p:nvSpPr>
          <p:cNvPr id="28" name="timer"/>
          <p:cNvSpPr/>
          <p:nvPr/>
        </p:nvSpPr>
        <p:spPr>
          <a:xfrm>
            <a:off x="9601200" y="1417320"/>
            <a:ext cx="2011680" cy="1005840"/>
          </a:xfrm>
          <a:prstGeom prst="roundRect">
            <a:avLst>
              <a:gd name="adj" fmla="val 12727"/>
            </a:avLst>
          </a:prstGeom>
          <a:solidFill>
            <a:schemeClr val="tx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601200" y="1527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실습 시간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601200" y="18013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20분</a:t>
            </a:r>
            <a:endParaRPr lang="en-US" sz="2800" dirty="0"/>
          </a:p>
        </p:txBody>
      </p:sp>
      <p:sp>
        <p:nvSpPr>
          <p:cNvPr id="31" name="export circle"/>
          <p:cNvSpPr/>
          <p:nvPr/>
        </p:nvSpPr>
        <p:spPr>
          <a:xfrm>
            <a:off x="10012680" y="288036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2" name="export" descr="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1747" y="3189427"/>
            <a:ext cx="570586" cy="570586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326880" y="4206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활동지 체크리스트에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하나씩 표시!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뮤직비디오가 멋있어지는 꿀팁</a:t>
            </a:r>
            <a:endParaRPr lang="en-US" sz="3200" dirty="0"/>
          </a:p>
        </p:txBody>
      </p:sp>
      <p:sp>
        <p:nvSpPr>
          <p:cNvPr id="3" name="짧게 자르기"/>
          <p:cNvSpPr/>
          <p:nvPr/>
        </p:nvSpPr>
        <p:spPr>
          <a:xfrm>
            <a:off x="548640" y="155448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짧게 자르기 circle"/>
          <p:cNvSpPr/>
          <p:nvPr/>
        </p:nvSpPr>
        <p:spPr>
          <a:xfrm>
            <a:off x="1051560" y="18288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짧게 자르기" descr="짧게 자르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090318"/>
            <a:ext cx="482803" cy="482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짧게 자르기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 장면은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3~5초면 충분</a:t>
            </a:r>
            <a:endParaRPr lang="en-US" sz="1400" dirty="0"/>
          </a:p>
        </p:txBody>
      </p:sp>
      <p:sp>
        <p:nvSpPr>
          <p:cNvPr id="8" name="박자 맞추기"/>
          <p:cNvSpPr/>
          <p:nvPr/>
        </p:nvSpPr>
        <p:spPr>
          <a:xfrm>
            <a:off x="2807208" y="155448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박자 맞추기 circle"/>
          <p:cNvSpPr/>
          <p:nvPr/>
        </p:nvSpPr>
        <p:spPr>
          <a:xfrm>
            <a:off x="3310128" y="182880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박자 맞추기" descr="박자 맞추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646" y="2090318"/>
            <a:ext cx="482803" cy="482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07208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박자 맞추기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36118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드럼이 '쿵' 할 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장면 바꾸기</a:t>
            </a:r>
            <a:endParaRPr lang="en-US" sz="1400" dirty="0"/>
          </a:p>
        </p:txBody>
      </p:sp>
      <p:sp>
        <p:nvSpPr>
          <p:cNvPr id="13" name="가사 자막"/>
          <p:cNvSpPr/>
          <p:nvPr/>
        </p:nvSpPr>
        <p:spPr>
          <a:xfrm>
            <a:off x="5065776" y="155448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가사 자막 circle"/>
          <p:cNvSpPr/>
          <p:nvPr/>
        </p:nvSpPr>
        <p:spPr>
          <a:xfrm>
            <a:off x="5568696" y="182880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가사 자막" descr="가사 자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0214" y="2090318"/>
            <a:ext cx="482803" cy="48280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65776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가사 자막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202936" y="36118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후렴 가사만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크게 넣어도 OK</a:t>
            </a:r>
            <a:endParaRPr lang="en-US" sz="1400" dirty="0"/>
          </a:p>
        </p:txBody>
      </p:sp>
      <p:sp>
        <p:nvSpPr>
          <p:cNvPr id="18" name="필터 하나로"/>
          <p:cNvSpPr/>
          <p:nvPr/>
        </p:nvSpPr>
        <p:spPr>
          <a:xfrm>
            <a:off x="7324344" y="155448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필터 하나로 circle"/>
          <p:cNvSpPr/>
          <p:nvPr/>
        </p:nvSpPr>
        <p:spPr>
          <a:xfrm>
            <a:off x="7827264" y="182880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필터 하나로" descr="필터 하나로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782" y="2090318"/>
            <a:ext cx="482803" cy="48280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24344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필터 하나로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36118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모든 장면에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같은 필터 적용</a:t>
            </a:r>
            <a:endParaRPr lang="en-US" sz="1400" dirty="0"/>
          </a:p>
        </p:txBody>
      </p:sp>
      <p:sp>
        <p:nvSpPr>
          <p:cNvPr id="23" name="전환은 조금만"/>
          <p:cNvSpPr/>
          <p:nvPr/>
        </p:nvSpPr>
        <p:spPr>
          <a:xfrm>
            <a:off x="9582912" y="1554480"/>
            <a:ext cx="2011680" cy="356616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전환은 조금만 circle"/>
          <p:cNvSpPr/>
          <p:nvPr/>
        </p:nvSpPr>
        <p:spPr>
          <a:xfrm>
            <a:off x="10085832" y="1828800"/>
            <a:ext cx="1005840" cy="10058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5" name="전환은 조금만" descr="전환은 조금만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7350" y="2090318"/>
            <a:ext cx="482803" cy="48280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582912" y="3063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전환은 조금만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720072" y="36118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후렴 시작에만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1~2개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기억하기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효과는 적을수록 세련돼요. 박자에 맞춘 장면 전환이 가장 강력한 효과!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꼭 지켜야 할 AI 약속</a:t>
            </a:r>
            <a:endParaRPr lang="en-US" sz="3200" dirty="0"/>
          </a:p>
        </p:txBody>
      </p:sp>
      <p:sp>
        <p:nvSpPr>
          <p:cNvPr id="3" name="얼굴·목소리 합성 금지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얼굴·목소리 합성 금지 circle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얼굴·목소리 합성 금지" descr="얼굴·목소리 합성 금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0089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6596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얼굴·목소리 합성 금지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965960" y="2286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친구나 연예인의 얼굴·목소리를 허락 없이 합성하면 딥페이크 범죄가 될 수 있어요</a:t>
            </a:r>
            <a:endParaRPr lang="en-US" sz="1400" dirty="0"/>
          </a:p>
        </p:txBody>
      </p:sp>
      <p:sp>
        <p:nvSpPr>
          <p:cNvPr id="8" name="친구 촬영은 동의 먼저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친구 촬영은 동의 먼저 circle"/>
          <p:cNvSpPr/>
          <p:nvPr/>
        </p:nvSpPr>
        <p:spPr>
          <a:xfrm>
            <a:off x="6492240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친구 촬영은 동의 먼저" descr="친구 촬영은 동의 먼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097" y="200893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친구 촬영은 동의 먼저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22860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작품에 친구가 나온다면 먼저 허락을 받아요</a:t>
            </a:r>
            <a:endParaRPr lang="en-US" sz="1400" dirty="0"/>
          </a:p>
        </p:txBody>
      </p:sp>
      <p:sp>
        <p:nvSpPr>
          <p:cNvPr id="13" name="AI로 만들었다고 밝히기"/>
          <p:cNvSpPr/>
          <p:nvPr/>
        </p:nvSpPr>
        <p:spPr>
          <a:xfrm>
            <a:off x="54864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AI로 만들었다고 밝히기 circle"/>
          <p:cNvSpPr/>
          <p:nvPr/>
        </p:nvSpPr>
        <p:spPr>
          <a:xfrm>
            <a:off x="868680" y="40233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AI로 만들었다고 밝히기" descr="AI로 만들었다고 밝히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537" y="4249217"/>
            <a:ext cx="416966" cy="4169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65960" y="4023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AI로 만들었다고 밝히기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965960" y="4526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마지막 장면에 'AI로 만든 작품'이라고 써요</a:t>
            </a:r>
            <a:endParaRPr lang="en-US" sz="1400" dirty="0"/>
          </a:p>
        </p:txBody>
      </p:sp>
      <p:sp>
        <p:nvSpPr>
          <p:cNvPr id="18" name="개인 감상용으로만"/>
          <p:cNvSpPr/>
          <p:nvPr/>
        </p:nvSpPr>
        <p:spPr>
          <a:xfrm>
            <a:off x="6172200" y="370332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개인 감상용으로만 circle"/>
          <p:cNvSpPr/>
          <p:nvPr/>
        </p:nvSpPr>
        <p:spPr>
          <a:xfrm>
            <a:off x="6492240" y="40233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개인 감상용으로만" descr="개인 감상용으로만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097" y="4249217"/>
            <a:ext cx="416966" cy="41696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89520" y="4023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개인 감상용으로만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589520" y="45262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오늘 만든 노래·영상은 판매하거나 수익 채널에 올리지 않아요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상영회 &amp; 피드백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감상 포인트</a:t>
            </a:r>
            <a:endParaRPr lang="en-US" sz="2000" dirty="0"/>
          </a:p>
        </p:txBody>
      </p:sp>
      <p:sp>
        <p:nvSpPr>
          <p:cNvPr id="4" name="어울림 circle"/>
          <p:cNvSpPr/>
          <p:nvPr/>
        </p:nvSpPr>
        <p:spPr>
          <a:xfrm>
            <a:off x="548640" y="20116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어울림" descr="어울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22375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299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어울림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468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노래와 영상의 분위기·박자가 잘 맞나요?</a:t>
            </a:r>
            <a:endParaRPr lang="en-US" sz="1500" dirty="0"/>
          </a:p>
        </p:txBody>
      </p:sp>
      <p:sp>
        <p:nvSpPr>
          <p:cNvPr id="8" name="창의성 circle"/>
          <p:cNvSpPr/>
          <p:nvPr/>
        </p:nvSpPr>
        <p:spPr>
          <a:xfrm>
            <a:off x="548640" y="329184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9" name="창의성" descr="창의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331012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창의성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우리 모둠만의 아이디어가 보이나요?</a:t>
            </a:r>
            <a:endParaRPr lang="en-US" sz="1500" dirty="0"/>
          </a:p>
        </p:txBody>
      </p:sp>
      <p:sp>
        <p:nvSpPr>
          <p:cNvPr id="12" name="메시지 circle"/>
          <p:cNvSpPr/>
          <p:nvPr/>
        </p:nvSpPr>
        <p:spPr>
          <a:xfrm>
            <a:off x="548640" y="457200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메시지" descr="메시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479785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59028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메시지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5029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전하고 싶은 이야기가 느껴지나요?</a:t>
            </a:r>
            <a:endParaRPr lang="en-US" sz="1500" dirty="0"/>
          </a:p>
        </p:txBody>
      </p:sp>
      <p:sp>
        <p:nvSpPr>
          <p:cNvPr id="16" name="feedback rule"/>
          <p:cNvSpPr/>
          <p:nvPr/>
        </p:nvSpPr>
        <p:spPr>
          <a:xfrm>
            <a:off x="6766560" y="1463040"/>
            <a:ext cx="4846320" cy="4434840"/>
          </a:xfrm>
          <a:prstGeom prst="roundRect">
            <a:avLst>
              <a:gd name="adj" fmla="val 2474"/>
            </a:avLst>
          </a:prstGeom>
          <a:solidFill>
            <a:schemeClr val="tx1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132320" y="1783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피드백 규칙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7132320" y="23317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칭찬 1 + 제안 1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7132320" y="333756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"후렴에서 장면이 바뀌는 타이밍이 정말 좋았어!"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"마지막 장면을 조금 더 길게 보여주면 여운이 남을 것 같아"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오늘 여러분은 작곡가이자 영화감독이었습니다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977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활동지 맨 아래 '오늘의 소감'을 적고 마무리해요</a:t>
            </a:r>
            <a:endParaRPr lang="en-US" sz="2000" dirty="0"/>
          </a:p>
        </p:txBody>
      </p:sp>
      <p:sp>
        <p:nvSpPr>
          <p:cNvPr id="5" name="equalizer bar 1"/>
          <p:cNvSpPr/>
          <p:nvPr/>
        </p:nvSpPr>
        <p:spPr>
          <a:xfrm>
            <a:off x="8138160" y="3108960"/>
            <a:ext cx="329184" cy="237744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6" name="equalizer bar 2"/>
          <p:cNvSpPr/>
          <p:nvPr/>
        </p:nvSpPr>
        <p:spPr>
          <a:xfrm>
            <a:off x="8595360" y="4023360"/>
            <a:ext cx="329184" cy="146304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</p:sp>
      <p:sp>
        <p:nvSpPr>
          <p:cNvPr id="7" name="equalizer bar 3"/>
          <p:cNvSpPr/>
          <p:nvPr/>
        </p:nvSpPr>
        <p:spPr>
          <a:xfrm>
            <a:off x="9052560" y="1645920"/>
            <a:ext cx="329184" cy="384048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8" name="equalizer bar 4"/>
          <p:cNvSpPr/>
          <p:nvPr/>
        </p:nvSpPr>
        <p:spPr>
          <a:xfrm>
            <a:off x="9509760" y="3657600"/>
            <a:ext cx="329184" cy="1828800"/>
          </a:xfrm>
          <a:prstGeom prst="roundRect">
            <a:avLst>
              <a:gd name="adj" fmla="val 22222"/>
            </a:avLst>
          </a:prstGeom>
          <a:solidFill>
            <a:schemeClr val="accent4"/>
          </a:solidFill>
          <a:ln/>
        </p:spPr>
      </p:sp>
      <p:sp>
        <p:nvSpPr>
          <p:cNvPr id="9" name="equalizer bar 5"/>
          <p:cNvSpPr/>
          <p:nvPr/>
        </p:nvSpPr>
        <p:spPr>
          <a:xfrm>
            <a:off x="9966960" y="2194560"/>
            <a:ext cx="329184" cy="3291840"/>
          </a:xfrm>
          <a:prstGeom prst="roundRect">
            <a:avLst>
              <a:gd name="adj" fmla="val 22222"/>
            </a:avLst>
          </a:prstGeom>
          <a:solidFill>
            <a:schemeClr val="accent5"/>
          </a:solidFill>
          <a:ln/>
        </p:spPr>
      </p:sp>
      <p:sp>
        <p:nvSpPr>
          <p:cNvPr id="10" name="equalizer bar 6"/>
          <p:cNvSpPr/>
          <p:nvPr/>
        </p:nvSpPr>
        <p:spPr>
          <a:xfrm>
            <a:off x="10424160" y="3291840"/>
            <a:ext cx="329184" cy="219456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11" name="equalizer bar 7"/>
          <p:cNvSpPr/>
          <p:nvPr/>
        </p:nvSpPr>
        <p:spPr>
          <a:xfrm>
            <a:off x="10881360" y="4389120"/>
            <a:ext cx="329184" cy="109728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</p:sp>
      <p:sp>
        <p:nvSpPr>
          <p:cNvPr id="12" name="equalizer bar 8"/>
          <p:cNvSpPr/>
          <p:nvPr/>
        </p:nvSpPr>
        <p:spPr>
          <a:xfrm>
            <a:off x="11338560" y="2743200"/>
            <a:ext cx="329184" cy="274320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I Music Video Studio">
  <a:themeElements>
    <a:clrScheme name="AI Music Video Studio">
      <a:dk1>
        <a:srgbClr val="1B1035"/>
      </a:dk1>
      <a:lt1>
        <a:srgbClr val="FFFFFF"/>
      </a:lt1>
      <a:dk2>
        <a:srgbClr val="4A3F66"/>
      </a:dk2>
      <a:lt2>
        <a:srgbClr val="F3F0FA"/>
      </a:lt2>
      <a:accent1>
        <a:srgbClr val="7B3FE4"/>
      </a:accent1>
      <a:accent2>
        <a:srgbClr val="FF4F8B"/>
      </a:accent2>
      <a:accent3>
        <a:srgbClr val="13B8A6"/>
      </a:accent3>
      <a:accent4>
        <a:srgbClr val="FFB020"/>
      </a:accent4>
      <a:accent5>
        <a:srgbClr val="4C6FFF"/>
      </a:accent5>
      <a:accent6>
        <a:srgbClr val="B9AEDB"/>
      </a:accent6>
      <a:hlink>
        <a:srgbClr val="7B3FE4"/>
      </a:hlink>
      <a:folHlink>
        <a:srgbClr val="4A3F66"/>
      </a:folHlink>
    </a:clrScheme>
    <a:fontScheme name="AI Music Video Studio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AI로 만드는 우리 모둠 뮤직비디오</dc:title>
  <dc:subject>PptxGenJS Presentation</dc:subject>
  <dc:creator>PptxGenJS</dc:creator>
  <cp:lastModifiedBy>PptxGenJS</cp:lastModifiedBy>
  <cp:revision>1</cp:revision>
  <dcterms:created xsi:type="dcterms:W3CDTF">2026-10-17T22:08:50Z</dcterms:created>
  <dcterms:modified xsi:type="dcterms:W3CDTF">2026-10-17T22:08:50Z</dcterms:modified>
</cp:coreProperties>
</file>