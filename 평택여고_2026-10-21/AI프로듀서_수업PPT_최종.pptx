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a5673c7-cbcb-22cc-1037-1b1f45fb8ea8}">
          <p14:sldIdLst>
            <p14:sldId id="256"/>
          </p14:sldIdLst>
        </p14:section>
        <p14:section name="아이스브레이킹" id="{a17e88c7-7840-0c14-2fb4-f9aea721614d}">
          <p14:sldIdLst>
            <p14:sldId id="257"/>
            <p14:sldId id="258"/>
            <p14:sldId id="259"/>
            <p14:sldId id="260"/>
            <p14:sldId id="261"/>
          </p14:sldIdLst>
        </p14:section>
        <p14:section name="오리엔테이션" id="{5a4d9e16-4664-e47a-b194-7ff619d6c13c}">
          <p14:sldIdLst>
            <p14:sldId id="262"/>
            <p14:sldId id="263"/>
            <p14:sldId id="264"/>
            <p14:sldId id="265"/>
          </p14:sldIdLst>
        </p14:section>
        <p14:section name="LV1 작사가" id="{96ce4289-a7ef-cb43-481c-2a349128af0d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LV2 작곡가" id="{f48e3e79-b617-eeb8-ceeb-f112fccb7978}">
          <p14:sldIdLst>
            <p14:sldId id="276"/>
            <p14:sldId id="277"/>
            <p14:sldId id="278"/>
            <p14:sldId id="279"/>
          </p14:sldIdLst>
        </p14:section>
        <p14:section name="LV3 감독" id="{24f4c272-d96c-a80f-c5fa-eed701824591}">
          <p14:sldIdLst>
            <p14:sldId id="280"/>
            <p14:sldId id="281"/>
            <p14:sldId id="282"/>
          </p14:sldIdLst>
        </p14:section>
        <p14:section name="LV4 편집자" id="{5d9d7293-9c43-4c40-ad54-3a77d278ad7b}">
          <p14:sldIdLst>
            <p14:sldId id="283"/>
            <p14:sldId id="284"/>
            <p14:sldId id="285"/>
            <p14:sldId id="286"/>
          </p14:sldIdLst>
        </p14:section>
        <p14:section name="LV5 시상식" id="{589f5d13-f57e-fd0c-ed4c-210da31a88ff}">
          <p14:sldIdLst>
            <p14:sldId id="287"/>
            <p14:sldId id="288"/>
            <p14:sldId id="289"/>
          </p14:sldIdLst>
        </p14:section>
        <p14:section name="강사용 부록" id="{c8e83167-defe-5155-f193-b748c162a6d5}">
          <p14:sldIdLst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전에 강사가 미리 만든 1분 샘플 뮤직비디오를 틀고 '2시간 뒤에 여러분도 이걸 만듭니다!'로 시작하세요. 오늘 수업은 게임처럼 레벨 1~5를 깨는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아이스브레이킹 3종(약 8분): 기분 BGM 고르기 2분 → 이모지 노래 퀴즈 3분 → 장르 몸풀기 챌린지 3분. 처음 만난 중학생들의 긴장을 풀고 '음악 장르' 감각을 깨우는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2분. 가장 많이 나온 번호를 보고 '오늘 우리 반 BGM은 졸린 로파이네요, 이따 신나는 곡으로 바꿔 봅시다!'처럼 가볍게 받아 줍니다. 이 6개 장르가 나중에 주사위 장르와 같다는 걸 슬쩍 알려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3분. 다 같이 아는 동요라 부담 없이 참여합니다. 한 문제씩 가리키며 진행하세요. 정답은 다음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'좋은 힌트 = 좋은 결과'라는 오늘의 핵심을 여기서 미리 심어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3분. 처음엔 천천히, 점점 빠르게. 마지막에 '함정!'으로 장르가 아닌 단어(예: '돈가스!')를 외쳐 웃음 포인트를 만드세요. 틀린 사람을 탈락시키지 말고 다 같이 웃고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1차시(14:20~15:10): LV.0 몸풀기, LV.1 작사가, LV.2 작곡가. 쉬는 시간 10분. 2차시(15:20~16:10): LV.3 감독, LV.4 편집자, LV.5 시상식.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준비: AI로 만든 곡 2개 + 사람이 만든 곡 1개(저작권 문제가 없는 무료 음원)를 15초씩 준비. 순서는 섞어서. 대부분 헷갈려 하는 반응이 나오면 '이제 여러분이 이걸 만듭니다'로 연결합니다. (5분)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 정답을 공개하고 생성형 AI를 '주문-요리-완성'으로 설명합니다. 2분 이내로 짧게.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CapCut 설치 여부와 활동지(1인 1장) 배부를 이때 확인합니다. AI 음악 서비스는 연령 제한(Suno 13~17세 보호자 동의, Gemini 음악 18세 이상)이 있어서 오늘은 가입 없이 쓰는 사이트만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LV.1 시작 (약 14:32).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전날 두 프롬프트로 미리 만든 노래를 들려주면 차이가 확 느껴집니다.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좋아하는 노래 한 곡을 떠올려 6블록으로 나눠 보게 하면 이해가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단어 은행에서 골라 [ ]에 넣기만 하면 됩니다. 예: '신나고 청량한 K-pop 댄스 노래, 신스와 드럼, 빠른 템포, 맑은 여성 보컬, 급식 시간에 대한 노래'.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주제를 못 정하는 학생을 위한 장치. 휴대폰 주사위(검색창에 '주사위' 입력)나 강사 주사위로 굴립니다. '트로트로 부르는 월요일 아침' 같은 조합이 나오면 교실이 빵 터집니다. 원하는 주제가 있는 학생은 그대로 써도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레시피를 그대로 복사해도 되고, 주제 부분만 내 이야기로 바꿔도 됩니다. 사이트에 '스타일' 칸이 따로 있고 한국어가 잘 안 먹히면 아래 영어 줄을 스타일 칸에 넣게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주사위로 나온 장르·주제 조합에 맞는 카드를 찾아 따라 쓰게 합니다. 주제만 바꾸고 싶으면 마지막 '~에 대한 노래' 부분만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가사를 강사가 리듬감 있게 읽어 주면 분위기가 풀립니다. 친구·연예인의 실제 이름은 넣지 않도록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사이트 화면 구조에 따라 A 또는 B 방식으로 입력합니다. 수업 전에 고른 사이트가 어느 쪽인지 확인해 두고, 해당하는 쪽을 강조해 안내하세요. 가사 입력이 아예 없는 사이트라면 가사는 영상 자막으로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12분 개인 활동. 먼저 끝난 학생은 바로 LV.2(노래 만들기)로 넘어가 속도 차이를 흡수합니다.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LV.2 시작 (약 14:52).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메모(수업 전 필수): Suno 무료는 계정당 평생 7회만 다운로드, Gemini 음악은 18세 이상이라 학생 개인용은 '가입 없이 MP3를 받는 무료 사이트'를 씁니다. 후보(2026년 10월 기준, 소규모 업체라 직접 확인): onlymusic.ai, songai.io, boppy.me, aimusicgen.ai(무가입은 연주곡만). 휴대폰으로 ①가입 없이 생성 ②한국어 가사·보컬 ③MP3 다운로드 ④광고·연령·약관 ⑤와이파이 동시 접속을 확인하고 1곳만 QR로 안내하세요. 예비 음원 10~15곡은 패들렛에. 30명 동시 접속으로 느려지면 학생 데이터(LTE) 사용을 허용합니다.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 결과가 마음에 안 드는 학생은 원래 프롬프트 끝에 리믹스 문장을 붙여 다시 만들게 합니다. 두 번째 결과와 비교하는 것 자체가 좋은 학습입니다.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마지막 5분. 랜덤 번호 뽑기로 3명(희망자 우선)의 노래를 강사 화면 또는 블루투스 스피커로 15초씩 틀고 리액션. 1차시 마무리로 노래 MP3 저장 여부를 다시 확인합니다. 쉬는 시간에 못 받은 학생은 예비 음원을 받게 도와주세요.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시작 (15:20). 모든 학생이 노래 파일을 가지고 있는지 먼저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범위(교실과 복도 등)를 정해 주세요. 빙고 한 줄을 완성하면 보너스 XP. 얼굴 대신 손·뒷모습·사물을 찍으면 개인정보 걱정이 줄고 오히려 감성적인 영상이 나옵니다. 친구가 나오는 컷은 반드시 동의를 받게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빙고 시작 전에 1분 안에 짧게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LV.4 시작 (약 15:32). 강사 휴대폰을 미러링해 시연합니다.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 편집. 15분이 지나면 '자막과 내보내기로 넘어가세요' 안내. 와이파이가 느리면 720p로 내보냅니다. 무료 버전은 영상 끝에 CapCut 로고가 붙을 수 있으며 그대로 두어도 됩니다. 수업 전 아이폰·갤럭시에서 'AI 사이트 다운로드 → CapCut 불러오기'를 꼭 리허설하세요.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속도 조절(슬로모션)은 학생 반응이 가장 좋은 기능입니다. 편집 중 순회하며 개별 지도합니다.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편집 마무리 직전에 1분. 딥페이크는 장난이라도 처벌될 수 있는 범죄임을 분명히 안내하고, 활동지 'AI 윤리 약속'에 체크하게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LV.5 시작 (약 15:55).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짝 감상 후 지원자 작품 3~4편을 빔으로 상영하고, 상 이름을 부르며 손들기 투표. 작은 간식이나 스티커를 상품으로 준비하면 열기가 확 오릅니다. 모든 학생이 받을 수 있도록 '완주상'을 덧붙여도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소감 한두 명 발표 후 마무리. '오늘 만든 노래와 영상은 개인 감상용'을 한 번 더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전날까지 확인할 항목입니다. Suno 무료는 계정당 평생 7회만 다운로드, Gemini 음악은 만 18세 이상이라 학생 개인 실습에는 가입 없는 사이트를 씁니다. 후보 사이트는 모두 소규모 업체라 직접 써 보고 고르세요.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시간이 밀리면 깜짝 청음회와 상영회 편수를 줄여 조절합니다.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중학생 콘텐츠 제작 학과체험 · 평택여자고등학교</a:t>
            </a:r>
            <a:endParaRPr 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오늘 나는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 프로듀서!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AI로 노래 만들고 휴대폰으로 뮤직비디오까지</a:t>
            </a:r>
            <a:endParaRPr lang="en-US" sz="2000" dirty="0"/>
          </a:p>
        </p:txBody>
      </p:sp>
      <p:sp>
        <p:nvSpPr>
          <p:cNvPr id="5" name="press start"/>
          <p:cNvSpPr/>
          <p:nvPr/>
        </p:nvSpPr>
        <p:spPr>
          <a:xfrm>
            <a:off x="731520" y="4892040"/>
            <a:ext cx="2926080" cy="6400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892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▶  PRESS START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4892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2차시 · 14:20 – 16:10</a:t>
            </a:r>
            <a:endParaRPr lang="en-US" sz="1500" dirty="0"/>
          </a:p>
        </p:txBody>
      </p:sp>
      <p:sp>
        <p:nvSpPr>
          <p:cNvPr id="8" name="equalizer bar 1"/>
          <p:cNvSpPr/>
          <p:nvPr/>
        </p:nvSpPr>
        <p:spPr>
          <a:xfrm>
            <a:off x="8138160" y="4389120"/>
            <a:ext cx="329184" cy="10972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9" name="equalizer bar 2"/>
          <p:cNvSpPr/>
          <p:nvPr/>
        </p:nvSpPr>
        <p:spPr>
          <a:xfrm>
            <a:off x="8595360" y="3291840"/>
            <a:ext cx="329184" cy="219456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0" name="equalizer bar 3"/>
          <p:cNvSpPr/>
          <p:nvPr/>
        </p:nvSpPr>
        <p:spPr>
          <a:xfrm>
            <a:off x="9052560" y="2194560"/>
            <a:ext cx="329184" cy="329184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11" name="equalizer bar 4"/>
          <p:cNvSpPr/>
          <p:nvPr/>
        </p:nvSpPr>
        <p:spPr>
          <a:xfrm>
            <a:off x="9509760" y="3657600"/>
            <a:ext cx="329184" cy="182880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12" name="equalizer bar 5"/>
          <p:cNvSpPr/>
          <p:nvPr/>
        </p:nvSpPr>
        <p:spPr>
          <a:xfrm>
            <a:off x="9966960" y="1645920"/>
            <a:ext cx="329184" cy="3840480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/>
        </p:spPr>
      </p:sp>
      <p:sp>
        <p:nvSpPr>
          <p:cNvPr id="13" name="equalizer bar 6"/>
          <p:cNvSpPr/>
          <p:nvPr/>
        </p:nvSpPr>
        <p:spPr>
          <a:xfrm>
            <a:off x="10424160" y="2743200"/>
            <a:ext cx="329184" cy="274320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14" name="equalizer bar 7"/>
          <p:cNvSpPr/>
          <p:nvPr/>
        </p:nvSpPr>
        <p:spPr>
          <a:xfrm>
            <a:off x="10881360" y="4023360"/>
            <a:ext cx="329184" cy="146304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sp>
        <p:nvSpPr>
          <p:cNvPr id="15" name="equalizer bar 8"/>
          <p:cNvSpPr/>
          <p:nvPr/>
        </p:nvSpPr>
        <p:spPr>
          <a:xfrm>
            <a:off x="11338560" y="3108960"/>
            <a:ext cx="329184" cy="2377440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LEVEL 0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몸풀기 타임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기분 BGM · 이모지 노래 퀴즈 · 장르 몸풀기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gamepad" descr="게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0392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약 8분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 내 기분 BGM은? 🎧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신나는 K-pop"/>
          <p:cNvSpPr/>
          <p:nvPr/>
        </p:nvSpPr>
        <p:spPr>
          <a:xfrm>
            <a:off x="548640" y="141732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1" name="step 1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554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🎉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신나는 K-pop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에너지 100%</a:t>
            </a:r>
            <a:endParaRPr lang="en-US" sz="1400" dirty="0"/>
          </a:p>
        </p:txBody>
      </p:sp>
      <p:sp>
        <p:nvSpPr>
          <p:cNvPr id="16" name="졸린 로파이"/>
          <p:cNvSpPr/>
          <p:nvPr/>
        </p:nvSpPr>
        <p:spPr>
          <a:xfrm>
            <a:off x="4297680" y="141732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7" name="step 2"/>
          <p:cNvSpPr/>
          <p:nvPr/>
        </p:nvSpPr>
        <p:spPr>
          <a:xfrm>
            <a:off x="4526280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554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😴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졸린 로파이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아직 잠이 덜 깸</a:t>
            </a:r>
            <a:endParaRPr lang="en-US" sz="1400" dirty="0"/>
          </a:p>
        </p:txBody>
      </p:sp>
      <p:sp>
        <p:nvSpPr>
          <p:cNvPr id="22" name="불타는 록"/>
          <p:cNvSpPr/>
          <p:nvPr/>
        </p:nvSpPr>
        <p:spPr>
          <a:xfrm>
            <a:off x="8046720" y="141732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3" name="step 3"/>
          <p:cNvSpPr/>
          <p:nvPr/>
        </p:nvSpPr>
        <p:spPr>
          <a:xfrm>
            <a:off x="8275320" y="1645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753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0" y="15544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🔥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불타는 록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뭐든 할 수 있어</a:t>
            </a:r>
            <a:endParaRPr lang="en-US" sz="1400" dirty="0"/>
          </a:p>
        </p:txBody>
      </p:sp>
      <p:sp>
        <p:nvSpPr>
          <p:cNvPr id="28" name="감성 발라드"/>
          <p:cNvSpPr/>
          <p:nvPr/>
        </p:nvSpPr>
        <p:spPr>
          <a:xfrm>
            <a:off x="548640" y="34290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9" name="step 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3566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🥲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감성 발라드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살짝 센치해</a:t>
            </a:r>
            <a:endParaRPr lang="en-US" sz="1400" dirty="0"/>
          </a:p>
        </p:txBody>
      </p:sp>
      <p:sp>
        <p:nvSpPr>
          <p:cNvPr id="34" name="스웩 힙합"/>
          <p:cNvSpPr/>
          <p:nvPr/>
        </p:nvSpPr>
        <p:spPr>
          <a:xfrm>
            <a:off x="4297680" y="34290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35" name="step 5"/>
          <p:cNvSpPr/>
          <p:nvPr/>
        </p:nvSpPr>
        <p:spPr>
          <a:xfrm>
            <a:off x="4526280" y="36576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2628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3566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😎</a:t>
            </a:r>
            <a:endParaRPr lang="en-US" sz="3600" dirty="0"/>
          </a:p>
        </p:txBody>
      </p:sp>
      <p:sp>
        <p:nvSpPr>
          <p:cNvPr id="38" name="Text 36"/>
          <p:cNvSpPr txBox="1"/>
          <p:nvPr/>
        </p:nvSpPr>
        <p:spPr>
          <a:xfrm>
            <a:off x="452628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스웩 힙합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452628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오늘 좀 멋있음</a:t>
            </a:r>
            <a:endParaRPr lang="en-US" sz="1400" dirty="0"/>
          </a:p>
        </p:txBody>
      </p:sp>
      <p:sp>
        <p:nvSpPr>
          <p:cNvPr id="40" name="흥 트로트"/>
          <p:cNvSpPr/>
          <p:nvPr/>
        </p:nvSpPr>
        <p:spPr>
          <a:xfrm>
            <a:off x="8046720" y="3429000"/>
            <a:ext cx="3520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41" name="step 6"/>
          <p:cNvSpPr/>
          <p:nvPr/>
        </p:nvSpPr>
        <p:spPr>
          <a:xfrm>
            <a:off x="8275320" y="36576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753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10424160" y="3566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🕺</a:t>
            </a:r>
            <a:endParaRPr lang="en-US" sz="3600" dirty="0"/>
          </a:p>
        </p:txBody>
      </p:sp>
      <p:sp>
        <p:nvSpPr>
          <p:cNvPr id="44" name="Text 42"/>
          <p:cNvSpPr txBox="1"/>
          <p:nvPr/>
        </p:nvSpPr>
        <p:spPr>
          <a:xfrm>
            <a:off x="8275320" y="4389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흥 트로트</a:t>
            </a:r>
            <a:endParaRPr lang="en-US" sz="190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어깨가 들썩</a:t>
            </a:r>
            <a:endParaRPr lang="en-US" sz="1400" dirty="0"/>
          </a:p>
        </p:txBody>
      </p:sp>
      <p:sp>
        <p:nvSpPr>
          <p:cNvPr id="46" name="how"/>
          <p:cNvSpPr/>
          <p:nvPr/>
        </p:nvSpPr>
        <p:spPr>
          <a:xfrm>
            <a:off x="548640" y="548640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하나, 둘, 셋!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손가락으로 번호를 들어요 → 같은 번호 친구와 눈 마주치고 하이파이브 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이모지 노래 퀴즈 · 무슨 노래일까?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Q1"/>
          <p:cNvSpPr/>
          <p:nvPr/>
        </p:nvSpPr>
        <p:spPr>
          <a:xfrm>
            <a:off x="548640" y="141732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Q1 tag"/>
          <p:cNvSpPr/>
          <p:nvPr/>
        </p:nvSpPr>
        <p:spPr>
          <a:xfrm>
            <a:off x="822960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16916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🐻 🐻 🐻</a:t>
            </a:r>
            <a:endParaRPr lang="en-US" sz="4800" dirty="0"/>
          </a:p>
        </p:txBody>
      </p:sp>
      <p:sp>
        <p:nvSpPr>
          <p:cNvPr id="14" name="Q2"/>
          <p:cNvSpPr/>
          <p:nvPr/>
        </p:nvSpPr>
        <p:spPr>
          <a:xfrm>
            <a:off x="6172200" y="141732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Q2 tag"/>
          <p:cNvSpPr/>
          <p:nvPr/>
        </p:nvSpPr>
        <p:spPr>
          <a:xfrm>
            <a:off x="6446520" y="2011680"/>
            <a:ext cx="91440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011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16916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⭐ ✨ 🌙</a:t>
            </a:r>
            <a:endParaRPr lang="en-US" sz="4800" dirty="0"/>
          </a:p>
        </p:txBody>
      </p:sp>
      <p:sp>
        <p:nvSpPr>
          <p:cNvPr id="18" name="Q3"/>
          <p:cNvSpPr/>
          <p:nvPr/>
        </p:nvSpPr>
        <p:spPr>
          <a:xfrm>
            <a:off x="548640" y="35204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Q3 tag"/>
          <p:cNvSpPr/>
          <p:nvPr/>
        </p:nvSpPr>
        <p:spPr>
          <a:xfrm>
            <a:off x="822960" y="4114800"/>
            <a:ext cx="914400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3794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🎂 🕯️ 🎉</a:t>
            </a:r>
            <a:endParaRPr lang="en-US" sz="4800" dirty="0"/>
          </a:p>
        </p:txBody>
      </p:sp>
      <p:sp>
        <p:nvSpPr>
          <p:cNvPr id="22" name="Q4"/>
          <p:cNvSpPr/>
          <p:nvPr/>
        </p:nvSpPr>
        <p:spPr>
          <a:xfrm>
            <a:off x="6172200" y="35204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3" name="Q4 tag"/>
          <p:cNvSpPr/>
          <p:nvPr/>
        </p:nvSpPr>
        <p:spPr>
          <a:xfrm>
            <a:off x="6446520" y="4114800"/>
            <a:ext cx="91440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794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chemeClr val="tx1"/>
                </a:solidFill>
              </a:rPr>
              <a:t>🔔 🏫 🏃</a:t>
            </a:r>
            <a:endParaRPr lang="en-US" sz="4800" dirty="0"/>
          </a:p>
        </p:txBody>
      </p:sp>
      <p:sp>
        <p:nvSpPr>
          <p:cNvPr id="26" name="rule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규칙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알 것 같으면 손 들고 노래 첫 소절을 불러야 정답 인정! 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정답 공개! 🎉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Q1"/>
          <p:cNvSpPr/>
          <p:nvPr/>
        </p:nvSpPr>
        <p:spPr>
          <a:xfrm>
            <a:off x="548640" y="141732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14173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🐻 🐻 🐻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141732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곰 세 마리</a:t>
            </a:r>
            <a:endParaRPr lang="en-US" sz="2200" dirty="0"/>
          </a:p>
        </p:txBody>
      </p:sp>
      <p:sp>
        <p:nvSpPr>
          <p:cNvPr id="13" name="Q2"/>
          <p:cNvSpPr/>
          <p:nvPr/>
        </p:nvSpPr>
        <p:spPr>
          <a:xfrm>
            <a:off x="6172200" y="141732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4173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⭐ ✨ 🌙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141732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반짝반짝 작은 별</a:t>
            </a:r>
            <a:endParaRPr lang="en-US" sz="2200" dirty="0"/>
          </a:p>
        </p:txBody>
      </p:sp>
      <p:sp>
        <p:nvSpPr>
          <p:cNvPr id="16" name="Q3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0175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🎂 🕯️ 🎉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01752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생일 축하합니다</a:t>
            </a:r>
            <a:endParaRPr lang="en-US" sz="2200" dirty="0"/>
          </a:p>
        </p:txBody>
      </p:sp>
      <p:sp>
        <p:nvSpPr>
          <p:cNvPr id="19" name="Q4"/>
          <p:cNvSpPr/>
          <p:nvPr/>
        </p:nvSpPr>
        <p:spPr>
          <a:xfrm>
            <a:off x="6172200" y="301752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0175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🔔 🏫 🏃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01752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학교 종</a:t>
            </a:r>
            <a:endParaRPr lang="en-US" sz="2200" dirty="0"/>
          </a:p>
        </p:txBody>
      </p:sp>
      <p:sp>
        <p:nvSpPr>
          <p:cNvPr id="22" name="link"/>
          <p:cNvSpPr/>
          <p:nvPr/>
        </p:nvSpPr>
        <p:spPr>
          <a:xfrm>
            <a:off x="548640" y="475488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</p:spPr>
      </p:sp>
      <p:sp>
        <p:nvSpPr>
          <p:cNvPr id="23" name="insight circle"/>
          <p:cNvSpPr/>
          <p:nvPr/>
        </p:nvSpPr>
        <p:spPr>
          <a:xfrm>
            <a:off x="777240" y="4956048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nsight" descr="ins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5146243"/>
            <a:ext cx="351130" cy="35113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737360" y="475488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이모지 3개만으로 노래를 맞혔죠?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AI도 똑같아요. 힌트(프롬프트)를 잘 주면 원하는 노래가 나와요!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장르 몸풀기 챌린지 💃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K-pop"/>
          <p:cNvSpPr/>
          <p:nvPr/>
        </p:nvSpPr>
        <p:spPr>
          <a:xfrm>
            <a:off x="548640" y="141732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K-pop circle"/>
          <p:cNvSpPr/>
          <p:nvPr/>
        </p:nvSpPr>
        <p:spPr>
          <a:xfrm>
            <a:off x="1051560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K-pop" descr="K-p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195315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K-pop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손으로 하트 만들고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윙크!</a:t>
            </a:r>
            <a:endParaRPr lang="en-US" sz="1500" dirty="0"/>
          </a:p>
        </p:txBody>
      </p:sp>
      <p:sp>
        <p:nvSpPr>
          <p:cNvPr id="15" name="록"/>
          <p:cNvSpPr/>
          <p:nvPr/>
        </p:nvSpPr>
        <p:spPr>
          <a:xfrm>
            <a:off x="2807208" y="141732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록 circle"/>
          <p:cNvSpPr/>
          <p:nvPr/>
        </p:nvSpPr>
        <p:spPr>
          <a:xfrm>
            <a:off x="3310128" y="16916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록" descr="록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953158"/>
            <a:ext cx="482803" cy="482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07208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록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2898648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에어 기타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지이잉~</a:t>
            </a:r>
            <a:endParaRPr lang="en-US" sz="1500" dirty="0"/>
          </a:p>
        </p:txBody>
      </p:sp>
      <p:sp>
        <p:nvSpPr>
          <p:cNvPr id="20" name="발라드"/>
          <p:cNvSpPr/>
          <p:nvPr/>
        </p:nvSpPr>
        <p:spPr>
          <a:xfrm>
            <a:off x="5065776" y="141732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발라드 circle"/>
          <p:cNvSpPr/>
          <p:nvPr/>
        </p:nvSpPr>
        <p:spPr>
          <a:xfrm>
            <a:off x="5568696" y="16916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발라드" descr="발라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14" y="1953158"/>
            <a:ext cx="482803" cy="482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65776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발라드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5157216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눈 감고 가슴에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손 얹기</a:t>
            </a:r>
            <a:endParaRPr lang="en-US" sz="1500" dirty="0"/>
          </a:p>
        </p:txBody>
      </p:sp>
      <p:sp>
        <p:nvSpPr>
          <p:cNvPr id="25" name="힙합"/>
          <p:cNvSpPr/>
          <p:nvPr/>
        </p:nvSpPr>
        <p:spPr>
          <a:xfrm>
            <a:off x="7324344" y="141732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힙합 circle"/>
          <p:cNvSpPr/>
          <p:nvPr/>
        </p:nvSpPr>
        <p:spPr>
          <a:xfrm>
            <a:off x="7827264" y="169164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힙합" descr="힙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1953158"/>
            <a:ext cx="482803" cy="48280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24344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힙합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7415784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팔짱 끼고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고개 까딱</a:t>
            </a:r>
            <a:endParaRPr lang="en-US" sz="1500" dirty="0"/>
          </a:p>
        </p:txBody>
      </p:sp>
      <p:sp>
        <p:nvSpPr>
          <p:cNvPr id="30" name="트로트"/>
          <p:cNvSpPr/>
          <p:nvPr/>
        </p:nvSpPr>
        <p:spPr>
          <a:xfrm>
            <a:off x="9582912" y="141732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1" name="트로트 circle"/>
          <p:cNvSpPr/>
          <p:nvPr/>
        </p:nvSpPr>
        <p:spPr>
          <a:xfrm>
            <a:off x="10085832" y="169164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2" name="트로트" descr="트로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350" y="1953158"/>
            <a:ext cx="482803" cy="48280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82912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트로트</a:t>
            </a:r>
            <a:endParaRPr lang="en-US" sz="2200" dirty="0"/>
          </a:p>
        </p:txBody>
      </p:sp>
      <p:sp>
        <p:nvSpPr>
          <p:cNvPr id="34" name="Text 27"/>
          <p:cNvSpPr txBox="1"/>
          <p:nvPr/>
        </p:nvSpPr>
        <p:spPr>
          <a:xfrm>
            <a:off x="9674352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어깨춤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들썩들썩</a:t>
            </a:r>
            <a:endParaRPr lang="en-US" sz="1500" dirty="0"/>
          </a:p>
        </p:txBody>
      </p:sp>
      <p:sp>
        <p:nvSpPr>
          <p:cNvPr id="35" name="rule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822960" y="5029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규칙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선생님이 장르를 외치면 다 같이 동작! 점점 빨라져요 → "K-pop! 록! 트로트! 발라드!"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오늘의 퀘스트 맵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quest path"/>
          <p:cNvSpPr/>
          <p:nvPr/>
        </p:nvSpPr>
        <p:spPr>
          <a:xfrm>
            <a:off x="1280160" y="2240280"/>
            <a:ext cx="969264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dash"/>
          </a:ln>
        </p:spPr>
      </p:sp>
      <p:sp>
        <p:nvSpPr>
          <p:cNvPr id="11" name="작사가 circle"/>
          <p:cNvSpPr/>
          <p:nvPr/>
        </p:nvSpPr>
        <p:spPr>
          <a:xfrm>
            <a:off x="1005840" y="164592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작사가" descr="작사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907" y="1954987"/>
            <a:ext cx="570586" cy="57058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LV.1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작사가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주제·프롬프트·가사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1차시</a:t>
            </a:r>
            <a:endParaRPr lang="en-US" sz="1200" dirty="0"/>
          </a:p>
        </p:txBody>
      </p:sp>
      <p:sp>
        <p:nvSpPr>
          <p:cNvPr id="17" name="작곡가 circle"/>
          <p:cNvSpPr/>
          <p:nvPr/>
        </p:nvSpPr>
        <p:spPr>
          <a:xfrm>
            <a:off x="3264408" y="164592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작곡가" descr="작곡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475" y="1954987"/>
            <a:ext cx="570586" cy="57058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807208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LV.2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2807208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작곡가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2807208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AI로 내 노래 만들기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2807208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1차시</a:t>
            </a:r>
            <a:endParaRPr lang="en-US" sz="1200" dirty="0"/>
          </a:p>
        </p:txBody>
      </p:sp>
      <p:sp>
        <p:nvSpPr>
          <p:cNvPr id="23" name="감독 circle"/>
          <p:cNvSpPr/>
          <p:nvPr/>
        </p:nvSpPr>
        <p:spPr>
          <a:xfrm>
            <a:off x="5522976" y="164592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감독" descr="감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043" y="1954987"/>
            <a:ext cx="570586" cy="57058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065776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LV.3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5065776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감독</a:t>
            </a:r>
            <a:endParaRPr lang="en-US" sz="2100" dirty="0"/>
          </a:p>
        </p:txBody>
      </p:sp>
      <p:sp>
        <p:nvSpPr>
          <p:cNvPr id="27" name="Text 22"/>
          <p:cNvSpPr txBox="1"/>
          <p:nvPr/>
        </p:nvSpPr>
        <p:spPr>
          <a:xfrm>
            <a:off x="5065776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촬영 빙고 미션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065776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2차시</a:t>
            </a:r>
            <a:endParaRPr lang="en-US" sz="1200" dirty="0"/>
          </a:p>
        </p:txBody>
      </p:sp>
      <p:sp>
        <p:nvSpPr>
          <p:cNvPr id="29" name="편집자 circle"/>
          <p:cNvSpPr/>
          <p:nvPr/>
        </p:nvSpPr>
        <p:spPr>
          <a:xfrm>
            <a:off x="7781544" y="1645920"/>
            <a:ext cx="1188720" cy="11887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편집자" descr="편집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611" y="1954987"/>
            <a:ext cx="570586" cy="57058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324344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LV.4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7324344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편집자</a:t>
            </a:r>
            <a:endParaRPr lang="en-US" sz="2100" dirty="0"/>
          </a:p>
        </p:txBody>
      </p:sp>
      <p:sp>
        <p:nvSpPr>
          <p:cNvPr id="33" name="Text 27"/>
          <p:cNvSpPr txBox="1"/>
          <p:nvPr/>
        </p:nvSpPr>
        <p:spPr>
          <a:xfrm>
            <a:off x="7324344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CapCut 뮤직비디오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7324344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2차시</a:t>
            </a:r>
            <a:endParaRPr lang="en-US" sz="1200" dirty="0"/>
          </a:p>
        </p:txBody>
      </p:sp>
      <p:sp>
        <p:nvSpPr>
          <p:cNvPr id="35" name="시상식 circle"/>
          <p:cNvSpPr/>
          <p:nvPr/>
        </p:nvSpPr>
        <p:spPr>
          <a:xfrm>
            <a:off x="10040112" y="1645920"/>
            <a:ext cx="1188720" cy="11887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6" name="시상식" descr="시상식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9179" y="1954987"/>
            <a:ext cx="570586" cy="57058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582912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LV.5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9582912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시상식</a:t>
            </a:r>
            <a:endParaRPr lang="en-US" sz="2100" dirty="0"/>
          </a:p>
        </p:txBody>
      </p:sp>
      <p:sp>
        <p:nvSpPr>
          <p:cNvPr id="39" name="Text 32"/>
          <p:cNvSpPr txBox="1"/>
          <p:nvPr/>
        </p:nvSpPr>
        <p:spPr>
          <a:xfrm>
            <a:off x="9582912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짝 감상 &amp; 시상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9582912" y="4251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2차시</a:t>
            </a:r>
            <a:endParaRPr lang="en-US" sz="1200" dirty="0"/>
          </a:p>
        </p:txBody>
      </p:sp>
      <p:sp>
        <p:nvSpPr>
          <p:cNvPr id="41" name="final boss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42" name="final reward circle"/>
          <p:cNvSpPr/>
          <p:nvPr/>
        </p:nvSpPr>
        <p:spPr>
          <a:xfrm>
            <a:off x="777240" y="5102352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3" name="final reward" descr="final rew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5280660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645920" y="498348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최종 보상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내가 만든 노래 + 내가 찍은 영상 = 세상에 하나뿐인 30초~1분 뮤직비디오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워밍업 퀴즈 · AI일까? 사람일까?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ROUND 1"/>
          <p:cNvSpPr/>
          <p:nvPr/>
        </p:nvSpPr>
        <p:spPr>
          <a:xfrm>
            <a:off x="54864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1" name="ROUND 1 circle"/>
          <p:cNvSpPr/>
          <p:nvPr/>
        </p:nvSpPr>
        <p:spPr>
          <a:xfrm>
            <a:off x="1783080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OUND 1" descr="ROUND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598" y="195315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ROUND 1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노래 15초 듣고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🤖 AI  vs  🙋 사람</a:t>
            </a:r>
            <a:endParaRPr lang="en-US" sz="1600" dirty="0"/>
          </a:p>
        </p:txBody>
      </p:sp>
      <p:sp>
        <p:nvSpPr>
          <p:cNvPr id="15" name="ROUND 2"/>
          <p:cNvSpPr/>
          <p:nvPr/>
        </p:nvSpPr>
        <p:spPr>
          <a:xfrm>
            <a:off x="429768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6" name="ROUND 2 circle"/>
          <p:cNvSpPr/>
          <p:nvPr/>
        </p:nvSpPr>
        <p:spPr>
          <a:xfrm>
            <a:off x="5532120" y="16916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ROUND 2" descr="ROUND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38" y="1953158"/>
            <a:ext cx="482803" cy="482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29768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ROUND 2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429768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노래 15초 듣고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🤖 AI  vs  🙋 사람</a:t>
            </a:r>
            <a:endParaRPr lang="en-US" sz="1600" dirty="0"/>
          </a:p>
        </p:txBody>
      </p:sp>
      <p:sp>
        <p:nvSpPr>
          <p:cNvPr id="20" name="ROUND 3"/>
          <p:cNvSpPr/>
          <p:nvPr/>
        </p:nvSpPr>
        <p:spPr>
          <a:xfrm>
            <a:off x="804672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21" name="ROUND 3 circle"/>
          <p:cNvSpPr/>
          <p:nvPr/>
        </p:nvSpPr>
        <p:spPr>
          <a:xfrm>
            <a:off x="9281160" y="169164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ROUND 3" descr="ROUND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78" y="1953158"/>
            <a:ext cx="482803" cy="482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4672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ROUND 3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04672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노래 15초 듣고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🤖 AI  vs  🙋 사람</a:t>
            </a:r>
            <a:endParaRPr lang="en-US" sz="1600" dirty="0"/>
          </a:p>
        </p:txBody>
      </p:sp>
      <p:sp>
        <p:nvSpPr>
          <p:cNvPr id="25" name="how to answer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6" name="answer circle"/>
          <p:cNvSpPr/>
          <p:nvPr/>
        </p:nvSpPr>
        <p:spPr>
          <a:xfrm>
            <a:off x="777240" y="48920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answer" descr="answ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5094122"/>
            <a:ext cx="373075" cy="37307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828800" y="466344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답하는 법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AI라고 생각하면 ✊ 주먹, 사람이라고 생각하면 🖐 보자기! 3초 뒤 동시에 짠!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정답 공개! AI는 어떻게 노래를 만들까?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프롬프트 card"/>
          <p:cNvSpPr/>
          <p:nvPr/>
        </p:nvSpPr>
        <p:spPr>
          <a:xfrm>
            <a:off x="548640" y="146304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1" name="프롬프트 circle"/>
          <p:cNvSpPr/>
          <p:nvPr/>
        </p:nvSpPr>
        <p:spPr>
          <a:xfrm>
            <a:off x="1737360" y="169164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프롬프트" descr="프롬프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192938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주문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프롬프트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"비 오는 날 듣는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잔잔한 피아노곡"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3931920" y="274320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7" name="AI 모델 card"/>
          <p:cNvSpPr/>
          <p:nvPr/>
        </p:nvSpPr>
        <p:spPr>
          <a:xfrm>
            <a:off x="4434840" y="146304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8" name="AI 모델 circle"/>
          <p:cNvSpPr/>
          <p:nvPr/>
        </p:nvSpPr>
        <p:spPr>
          <a:xfrm>
            <a:off x="5623560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AI 모델" descr="AI 모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1929384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4348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요리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4348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 모델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461772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수많은 음악에서 배운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패턴으로 새 노래 생성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7818120" y="2743200"/>
            <a:ext cx="411480" cy="45720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4" name="내 노래 card"/>
          <p:cNvSpPr/>
          <p:nvPr/>
        </p:nvSpPr>
        <p:spPr>
          <a:xfrm>
            <a:off x="8321040" y="146304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25" name="내 노래 circle"/>
          <p:cNvSpPr/>
          <p:nvPr/>
        </p:nvSpPr>
        <p:spPr>
          <a:xfrm>
            <a:off x="9509760" y="16916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내 노래" descr="내 노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1929384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3210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완성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83210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내 노래</a:t>
            </a:r>
            <a:endParaRPr lang="en-US" sz="2200" dirty="0"/>
          </a:p>
        </p:txBody>
      </p:sp>
      <p:sp>
        <p:nvSpPr>
          <p:cNvPr id="29" name="Text 24"/>
          <p:cNvSpPr txBox="1"/>
          <p:nvPr/>
        </p:nvSpPr>
        <p:spPr>
          <a:xfrm>
            <a:off x="8503920" y="3611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가사와 목소리까지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1~2분 만에 뚝딱!</a:t>
            </a:r>
            <a:endParaRPr lang="en-US" sz="1400" dirty="0"/>
          </a:p>
        </p:txBody>
      </p:sp>
      <p:sp>
        <p:nvSpPr>
          <p:cNvPr id="30" name="key message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22960" y="4892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핵심!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AI는 식당 주방장.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주문(프롬프트)을 자세히 할수록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원하는 노래가 나와요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게임 규칙 4가지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가입·결제 버튼 금지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가입·결제 버튼 금지 circle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가입·결제 버튼 금지" descr="가입·결제 버튼 금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6654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0116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가입·결제 버튼 금지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회원가입·결제 창이 뜨면 누르지 말고 손 들기</a:t>
            </a:r>
            <a:endParaRPr lang="en-US" sz="1500" dirty="0"/>
          </a:p>
        </p:txBody>
      </p:sp>
      <p:sp>
        <p:nvSpPr>
          <p:cNvPr id="15" name="얼굴 대신 손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얼굴 대신 손 circle"/>
          <p:cNvSpPr/>
          <p:nvPr/>
        </p:nvSpPr>
        <p:spPr>
          <a:xfrm>
            <a:off x="6492240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얼굴 대신 손" descr="얼굴 대신 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06654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35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얼굴 대신 손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촬영은 손, 뒷모습, 그림자, 사물, 풍경으로</a:t>
            </a:r>
            <a:endParaRPr lang="en-US" sz="1500" dirty="0"/>
          </a:p>
        </p:txBody>
      </p:sp>
      <p:sp>
        <p:nvSpPr>
          <p:cNvPr id="20" name="막히면 바로 SOS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막히면 바로 SOS circle"/>
          <p:cNvSpPr/>
          <p:nvPr/>
        </p:nvSpPr>
        <p:spPr>
          <a:xfrm>
            <a:off x="868680" y="40690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막히면 바로 SOS" descr="막히면 바로 S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306824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01168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막히면 바로 SOS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201168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3분 넘게 막히면 손 들기, 옆 친구 도움 OK</a:t>
            </a:r>
            <a:endParaRPr lang="en-US" sz="1500" dirty="0"/>
          </a:p>
        </p:txBody>
      </p:sp>
      <p:sp>
        <p:nvSpPr>
          <p:cNvPr id="25" name="충전 · 와이파이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충전 · 와이파이 circle"/>
          <p:cNvSpPr/>
          <p:nvPr/>
        </p:nvSpPr>
        <p:spPr>
          <a:xfrm>
            <a:off x="6492240" y="406908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충전 · 와이파이" descr="충전 · 와이파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30682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3524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충전 · 와이파이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763524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배터리 50% 이상, 칠판의 와이파이 접속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LEVEL 1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작사가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AI에게 보낼 주문서(프롬프트)와 가사 쓰기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작사가" descr="작사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떡볶이 주문하듯 AI에게 주문하기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😵 이렇게 주문하면?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11" name="😵 이렇게 주문하면? circle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😵 이렇게 주문하면?" descr="😵 이렇게 주문하면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9164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😵 이렇게 주문하면?</a:t>
            </a:r>
            <a:endParaRPr lang="en-US" sz="2100" dirty="0"/>
          </a:p>
        </p:txBody>
      </p:sp>
      <p:pic>
        <p:nvPicPr>
          <p:cNvPr id="14" name="food" descr="음식 주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560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"아무거나 주세요"</a:t>
            </a:r>
            <a:endParaRPr lang="en-US" sz="1600" dirty="0"/>
          </a:p>
        </p:txBody>
      </p:sp>
      <p:pic>
        <p:nvPicPr>
          <p:cNvPr id="16" name="music" descr="음악 주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411480" cy="411480"/>
          </a:xfrm>
          <a:prstGeom prst="rect">
            <a:avLst/>
          </a:prstGeom>
        </p:spPr>
      </p:pic>
      <p:sp>
        <p:nvSpPr>
          <p:cNvPr id="17" name="prompt box"/>
          <p:cNvSpPr/>
          <p:nvPr/>
        </p:nvSpPr>
        <p:spPr>
          <a:xfrm>
            <a:off x="1463040" y="3200400"/>
            <a:ext cx="4206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645920" y="32004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"좋은 노래 만들어줘"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 뭐가 나올지 아무도 몰라요</a:t>
            </a:r>
            <a:endParaRPr lang="en-US" sz="1600" dirty="0"/>
          </a:p>
        </p:txBody>
      </p:sp>
      <p:sp>
        <p:nvSpPr>
          <p:cNvPr id="20" name="😋 이렇게 주문하면!"/>
          <p:cNvSpPr/>
          <p:nvPr/>
        </p:nvSpPr>
        <p:spPr>
          <a:xfrm>
            <a:off x="621792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21" name="😋 이렇게 주문하면! circle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😋 이렇게 주문하면!" descr="😋 이렇게 주문하면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18580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1691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😋 이렇게 주문하면!</a:t>
            </a:r>
            <a:endParaRPr lang="en-US" sz="2100" dirty="0"/>
          </a:p>
        </p:txBody>
      </p:sp>
      <p:pic>
        <p:nvPicPr>
          <p:cNvPr id="24" name="food" descr="음식 주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6060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32320" y="2560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"치즈 추가, 덜 맵게, 튀김 2개"</a:t>
            </a:r>
            <a:endParaRPr lang="en-US" sz="1600" dirty="0"/>
          </a:p>
        </p:txBody>
      </p:sp>
      <p:pic>
        <p:nvPicPr>
          <p:cNvPr id="26" name="music" descr="음악 주문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291840"/>
            <a:ext cx="411480" cy="411480"/>
          </a:xfrm>
          <a:prstGeom prst="rect">
            <a:avLst/>
          </a:prstGeom>
        </p:spPr>
      </p:pic>
      <p:sp>
        <p:nvSpPr>
          <p:cNvPr id="27" name="prompt box"/>
          <p:cNvSpPr/>
          <p:nvPr/>
        </p:nvSpPr>
        <p:spPr>
          <a:xfrm>
            <a:off x="7132320" y="3200400"/>
            <a:ext cx="4206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7315200" y="320040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"비 오는 날 듣는 잔잔한 로파이, 피아노와 빗소리, 느린 템포, 보컬 없음"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6583680" y="4937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딱 원하는 게 나와요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주문서 공식 · 6개 블록 조립하기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장르"/>
          <p:cNvSpPr/>
          <p:nvPr/>
        </p:nvSpPr>
        <p:spPr>
          <a:xfrm>
            <a:off x="54864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장르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K-pop 댄스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4" name="분위기"/>
          <p:cNvSpPr/>
          <p:nvPr/>
        </p:nvSpPr>
        <p:spPr>
          <a:xfrm>
            <a:off x="242316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2316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분위기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신나는, 청량한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18" name="악기"/>
          <p:cNvSpPr/>
          <p:nvPr/>
        </p:nvSpPr>
        <p:spPr>
          <a:xfrm>
            <a:off x="429768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9768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악기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신스, 강한 드럼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22" name="템포"/>
          <p:cNvSpPr/>
          <p:nvPr/>
        </p:nvSpPr>
        <p:spPr>
          <a:xfrm>
            <a:off x="617220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템포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빠른 템포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26" name="보컬"/>
          <p:cNvSpPr/>
          <p:nvPr/>
        </p:nvSpPr>
        <p:spPr>
          <a:xfrm>
            <a:off x="804672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accent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672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보컬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맑은 여성 보컬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46920" y="16002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+</a:t>
            </a:r>
            <a:endParaRPr lang="en-US" sz="2400" dirty="0"/>
          </a:p>
        </p:txBody>
      </p:sp>
      <p:sp>
        <p:nvSpPr>
          <p:cNvPr id="30" name="주제"/>
          <p:cNvSpPr/>
          <p:nvPr/>
        </p:nvSpPr>
        <p:spPr>
          <a:xfrm>
            <a:off x="9921240" y="1600200"/>
            <a:ext cx="1600200" cy="914400"/>
          </a:xfrm>
          <a:prstGeom prst="roundRect">
            <a:avLst>
              <a:gd name="adj" fmla="val 14000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92124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주제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급식 시간</a:t>
            </a:r>
            <a:endParaRPr lang="en-US" sz="1400" dirty="0"/>
          </a:p>
        </p:txBody>
      </p:sp>
      <p:sp>
        <p:nvSpPr>
          <p:cNvPr id="33" name="example prompt"/>
          <p:cNvSpPr/>
          <p:nvPr/>
        </p:nvSpPr>
        <p:spPr>
          <a:xfrm>
            <a:off x="548640" y="3703320"/>
            <a:ext cx="11064240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34" name="prompt circle"/>
          <p:cNvSpPr/>
          <p:nvPr/>
        </p:nvSpPr>
        <p:spPr>
          <a:xfrm>
            <a:off x="868680" y="3977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prompt" descr="prom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4155948"/>
            <a:ext cx="329184" cy="329184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78308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조립 완성!  (활동지 STEP 2)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7830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"신나고 청량한 K-pop 댄스곡, 밝은 신스와 강한 드럼, 빠른 템포,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맑은 여성 보컬, 4교시 끝나고 급식실로 달려가는 노래"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빈칸만 채우면 완성! 프롬프트 템플릿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template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1554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이 문장을 그대로 따라 쓰고 [ ] 안만 바꾸세요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965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[분위기]</a:t>
            </a:r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하고 </a:t>
            </a:r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[분위기]</a:t>
            </a:r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한 </a:t>
            </a:r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[장르]</a:t>
            </a:r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 노래, </a:t>
            </a:r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[악기]</a:t>
            </a:r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와 </a:t>
            </a:r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</a:rPr>
              <a:t>[악기]</a:t>
            </a:r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, </a:t>
            </a:r>
            <a:pPr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[템포]</a:t>
            </a:r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 템포, </a:t>
            </a:r>
            <a:pPr indent="0" marL="0">
              <a:buNone/>
            </a:pPr>
            <a:r>
              <a:rPr lang="en-US" sz="2100" b="1" dirty="0">
                <a:solidFill>
                  <a:schemeClr val="accent5"/>
                </a:solidFill>
              </a:rPr>
              <a:t>[보컬]</a:t>
            </a:r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, </a:t>
            </a:r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[주제]</a:t>
            </a:r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에 대한 노래</a:t>
            </a:r>
            <a:endParaRPr lang="en-US" sz="2100" dirty="0"/>
          </a:p>
        </p:txBody>
      </p:sp>
      <p:sp>
        <p:nvSpPr>
          <p:cNvPr id="13" name="분위기 chip"/>
          <p:cNvSpPr/>
          <p:nvPr/>
        </p:nvSpPr>
        <p:spPr>
          <a:xfrm>
            <a:off x="548640" y="3246120"/>
            <a:ext cx="128016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분위기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3246120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신나는 · 청량한 · 잔잔한 · 따뜻한 · 몽환적인 · 웅장한 · 귀여운 · 웃긴 · 신비로운</a:t>
            </a:r>
            <a:endParaRPr lang="en-US" sz="1500" dirty="0"/>
          </a:p>
        </p:txBody>
      </p:sp>
      <p:sp>
        <p:nvSpPr>
          <p:cNvPr id="16" name="장르 chip"/>
          <p:cNvSpPr/>
          <p:nvPr/>
        </p:nvSpPr>
        <p:spPr>
          <a:xfrm>
            <a:off x="548640" y="3794760"/>
            <a:ext cx="1280160" cy="4389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장르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794760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K-pop 댄스 · 발라드 · 힙합 · 록 · 트로트 · 동요 · 로파이 · 재즈 · 어쿠스틱 팝</a:t>
            </a:r>
            <a:endParaRPr lang="en-US" sz="1500" dirty="0"/>
          </a:p>
        </p:txBody>
      </p:sp>
      <p:sp>
        <p:nvSpPr>
          <p:cNvPr id="19" name="악기 chip"/>
          <p:cNvSpPr/>
          <p:nvPr/>
        </p:nvSpPr>
        <p:spPr>
          <a:xfrm>
            <a:off x="548640" y="4343400"/>
            <a:ext cx="128016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434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악기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4343400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피아노 · 기타 · 드럼 · 신스 · 베이스 · 현악기 · 우쿨렐레 · 실로폰 · 손뼉 소리</a:t>
            </a:r>
            <a:endParaRPr lang="en-US" sz="1500" dirty="0"/>
          </a:p>
        </p:txBody>
      </p:sp>
      <p:sp>
        <p:nvSpPr>
          <p:cNvPr id="22" name="템포 chip"/>
          <p:cNvSpPr/>
          <p:nvPr/>
        </p:nvSpPr>
        <p:spPr>
          <a:xfrm>
            <a:off x="548640" y="4892040"/>
            <a:ext cx="128016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8920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템포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4892040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빠른 · 보통 · 느린 (숫자로: 빠름 120BPM, 보통 100BPM, 느림 70BPM)</a:t>
            </a:r>
            <a:endParaRPr lang="en-US" sz="1500" dirty="0"/>
          </a:p>
        </p:txBody>
      </p:sp>
      <p:sp>
        <p:nvSpPr>
          <p:cNvPr id="25" name="보컬 chip"/>
          <p:cNvSpPr/>
          <p:nvPr/>
        </p:nvSpPr>
        <p:spPr>
          <a:xfrm>
            <a:off x="548640" y="5440680"/>
            <a:ext cx="1280160" cy="43891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4406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보컬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5440680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맑은 여성 보컬 · 부드러운 남성 보컬 · 랩 · 어린이 합창 · 보컬 없음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고민될 땐? 운명의 주사위 🎲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genre dice"/>
          <p:cNvSpPr/>
          <p:nvPr/>
        </p:nvSpPr>
        <p:spPr>
          <a:xfrm>
            <a:off x="548640" y="1463040"/>
            <a:ext cx="548640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🎲 첫 번째 주사위 · 장르</a:t>
            </a:r>
            <a:endParaRPr lang="en-US" sz="1800" dirty="0"/>
          </a:p>
        </p:txBody>
      </p:sp>
      <p:sp>
        <p:nvSpPr>
          <p:cNvPr id="12" name="step 1"/>
          <p:cNvSpPr/>
          <p:nvPr/>
        </p:nvSpPr>
        <p:spPr>
          <a:xfrm>
            <a:off x="868680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K-pop 댄스</a:t>
            </a:r>
            <a:endParaRPr lang="en-US" sz="1600" dirty="0"/>
          </a:p>
        </p:txBody>
      </p:sp>
      <p:sp>
        <p:nvSpPr>
          <p:cNvPr id="15" name="step 2"/>
          <p:cNvSpPr/>
          <p:nvPr/>
        </p:nvSpPr>
        <p:spPr>
          <a:xfrm>
            <a:off x="3383280" y="2331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감성 발라드</a:t>
            </a:r>
            <a:endParaRPr lang="en-US" sz="1600" dirty="0"/>
          </a:p>
        </p:txBody>
      </p:sp>
      <p:sp>
        <p:nvSpPr>
          <p:cNvPr id="18" name="step 3"/>
          <p:cNvSpPr/>
          <p:nvPr/>
        </p:nvSpPr>
        <p:spPr>
          <a:xfrm>
            <a:off x="868680" y="34747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힙합 · 랩</a:t>
            </a:r>
            <a:endParaRPr lang="en-US" sz="1600" dirty="0"/>
          </a:p>
        </p:txBody>
      </p:sp>
      <p:sp>
        <p:nvSpPr>
          <p:cNvPr id="21" name="step 4"/>
          <p:cNvSpPr/>
          <p:nvPr/>
        </p:nvSpPr>
        <p:spPr>
          <a:xfrm>
            <a:off x="3383280" y="34747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신나는 록</a:t>
            </a:r>
            <a:endParaRPr lang="en-US" sz="1600" dirty="0"/>
          </a:p>
        </p:txBody>
      </p:sp>
      <p:sp>
        <p:nvSpPr>
          <p:cNvPr id="24" name="step 5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4526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뽕짝 트로트</a:t>
            </a:r>
            <a:endParaRPr lang="en-US" sz="1600" dirty="0"/>
          </a:p>
        </p:txBody>
      </p:sp>
      <p:sp>
        <p:nvSpPr>
          <p:cNvPr id="27" name="step 6"/>
          <p:cNvSpPr/>
          <p:nvPr/>
        </p:nvSpPr>
        <p:spPr>
          <a:xfrm>
            <a:off x="3383280" y="46177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832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4526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동요 (반전!)</a:t>
            </a:r>
            <a:endParaRPr lang="en-US" sz="1600" dirty="0"/>
          </a:p>
        </p:txBody>
      </p:sp>
      <p:sp>
        <p:nvSpPr>
          <p:cNvPr id="30" name="topic dice"/>
          <p:cNvSpPr/>
          <p:nvPr/>
        </p:nvSpPr>
        <p:spPr>
          <a:xfrm>
            <a:off x="6400800" y="1463040"/>
            <a:ext cx="5212080" cy="4434840"/>
          </a:xfrm>
          <a:prstGeom prst="roundRect">
            <a:avLst>
              <a:gd name="adj" fmla="val 2474"/>
            </a:avLst>
          </a:prstGeom>
          <a:solidFill>
            <a:schemeClr val="tx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2084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🎲 두 번째 주사위 · 주제</a:t>
            </a:r>
            <a:endParaRPr lang="en-US" sz="1800" dirty="0"/>
          </a:p>
        </p:txBody>
      </p:sp>
      <p:sp>
        <p:nvSpPr>
          <p:cNvPr id="32" name="step 1"/>
          <p:cNvSpPr/>
          <p:nvPr/>
        </p:nvSpPr>
        <p:spPr>
          <a:xfrm>
            <a:off x="6720840" y="2331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208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2240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급식 메뉴</a:t>
            </a:r>
            <a:endParaRPr lang="en-US" sz="1600" dirty="0"/>
          </a:p>
        </p:txBody>
      </p:sp>
      <p:sp>
        <p:nvSpPr>
          <p:cNvPr id="35" name="step 2"/>
          <p:cNvSpPr/>
          <p:nvPr/>
        </p:nvSpPr>
        <p:spPr>
          <a:xfrm>
            <a:off x="9098280" y="2331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982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0" y="2240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시험 끝난 날</a:t>
            </a:r>
            <a:endParaRPr lang="en-US" sz="1600" dirty="0"/>
          </a:p>
        </p:txBody>
      </p:sp>
      <p:sp>
        <p:nvSpPr>
          <p:cNvPr id="38" name="step 3"/>
          <p:cNvSpPr/>
          <p:nvPr/>
        </p:nvSpPr>
        <p:spPr>
          <a:xfrm>
            <a:off x="6720840" y="3474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7208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7498080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내 최애 간식</a:t>
            </a:r>
            <a:endParaRPr lang="en-US" sz="1600" dirty="0"/>
          </a:p>
        </p:txBody>
      </p:sp>
      <p:sp>
        <p:nvSpPr>
          <p:cNvPr id="41" name="step 4"/>
          <p:cNvSpPr/>
          <p:nvPr/>
        </p:nvSpPr>
        <p:spPr>
          <a:xfrm>
            <a:off x="9098280" y="3474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0982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9875520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월요일 아침</a:t>
            </a:r>
            <a:endParaRPr lang="en-US" sz="1600" dirty="0"/>
          </a:p>
        </p:txBody>
      </p:sp>
      <p:sp>
        <p:nvSpPr>
          <p:cNvPr id="44" name="step 5"/>
          <p:cNvSpPr/>
          <p:nvPr/>
        </p:nvSpPr>
        <p:spPr>
          <a:xfrm>
            <a:off x="6720840" y="4617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72084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7498080" y="4526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우리 반 자랑</a:t>
            </a:r>
            <a:endParaRPr lang="en-US" sz="1600" dirty="0"/>
          </a:p>
        </p:txBody>
      </p:sp>
      <p:sp>
        <p:nvSpPr>
          <p:cNvPr id="47" name="step 6"/>
          <p:cNvSpPr/>
          <p:nvPr/>
        </p:nvSpPr>
        <p:spPr>
          <a:xfrm>
            <a:off x="9098280" y="4617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9875520" y="4526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나의 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프롬프트 레시피 ① · 주사위 1~3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K-pop 댄스 recipe"/>
          <p:cNvSpPr/>
          <p:nvPr/>
        </p:nvSpPr>
        <p:spPr>
          <a:xfrm>
            <a:off x="548640" y="141732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1" name="K-pop 댄스 header"/>
          <p:cNvSpPr/>
          <p:nvPr/>
        </p:nvSpPr>
        <p:spPr>
          <a:xfrm>
            <a:off x="548640" y="141732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🎲 1  K-pop 댄스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주제: 급식 메뉴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65176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신나고 청량한 K-pop 댄스곡, 밝은 신스와 통통 튀는 베이스, 강한 드럼, 빠른 템포(120BPM), 맑은 여성 보컬, 따라 부르기 쉬운 후렴, 4교시 끝나고 급식실로 달려가는 설렘에 대한 노래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00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영어 스타일 칸용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upbeat K-pop dance, bright synths, bouncy bass, punchy drums, 120 BPM, clear female vocals, catchy chorus</a:t>
            </a:r>
            <a:endParaRPr lang="en-US" sz="1200" dirty="0"/>
          </a:p>
        </p:txBody>
      </p:sp>
      <p:sp>
        <p:nvSpPr>
          <p:cNvPr id="17" name="감성 발라드 recipe"/>
          <p:cNvSpPr/>
          <p:nvPr/>
        </p:nvSpPr>
        <p:spPr>
          <a:xfrm>
            <a:off x="4297680" y="141732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8" name="감성 발라드 header"/>
          <p:cNvSpPr/>
          <p:nvPr/>
        </p:nvSpPr>
        <p:spPr>
          <a:xfrm>
            <a:off x="4297680" y="141732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2628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🎲 2  감성 발라드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주제: 시험 끝난 날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265176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잔잔하고 따뜻한 감성 발라드, 피아노와 현악기, 느린 템포(70BPM), 부드러운 남성 보컬, 후렴에서 감정이 커지는 구성, 시험이 끝난 날 노을을 보며 집에 가는 기분에 대한 노래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800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영어 스타일 칸용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emotional ballad, piano and strings, 70 BPM, soft male vocals, chorus builds up</a:t>
            </a:r>
            <a:endParaRPr lang="en-US" sz="1200" dirty="0"/>
          </a:p>
        </p:txBody>
      </p:sp>
      <p:sp>
        <p:nvSpPr>
          <p:cNvPr id="24" name="힙합 · 랩 recipe"/>
          <p:cNvSpPr/>
          <p:nvPr/>
        </p:nvSpPr>
        <p:spPr>
          <a:xfrm>
            <a:off x="8046720" y="141732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25" name="힙합 · 랩 header"/>
          <p:cNvSpPr/>
          <p:nvPr/>
        </p:nvSpPr>
        <p:spPr>
          <a:xfrm>
            <a:off x="8046720" y="141732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🎲 3  힙합 · 랩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주제: 내 최애 간식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265176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자신감 넘치는 힙합, 묵직한 베이스와 붐뱁 드럼, 보통 템포(90BPM), 리듬감 있는 랩과 중독성 있는 후렴, 편의점 최애 간식을 자랑하는 재미있는 노래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800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영어 스타일 칸용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confident hip hop, heavy 808 bass, boom bap drums, 90 BPM, rhythmic rap, catchy hook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프롬프트 레시피 ② · 주사위 4~6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신나는 록 recipe"/>
          <p:cNvSpPr/>
          <p:nvPr/>
        </p:nvSpPr>
        <p:spPr>
          <a:xfrm>
            <a:off x="548640" y="141732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1" name="신나는 록 header"/>
          <p:cNvSpPr/>
          <p:nvPr/>
        </p:nvSpPr>
        <p:spPr>
          <a:xfrm>
            <a:off x="548640" y="141732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🎲 4  신나는 록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주제: 월요일 아침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65176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에너지 넘치는 록, 강한 일렉 기타와 시원한 드럼, 빠른 템포(140BPM), 힘찬 보컬과 다 같이 외치는 후렴, 월요일 아침 졸음을 이겨내는 응원가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00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영어 스타일 칸용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energetic pop rock, loud electric guitars, driving drums, 140 BPM, powerful vocals, gang vocal chorus</a:t>
            </a:r>
            <a:endParaRPr lang="en-US" sz="1200" dirty="0"/>
          </a:p>
        </p:txBody>
      </p:sp>
      <p:sp>
        <p:nvSpPr>
          <p:cNvPr id="17" name="뽕짝 트로트 recipe"/>
          <p:cNvSpPr/>
          <p:nvPr/>
        </p:nvSpPr>
        <p:spPr>
          <a:xfrm>
            <a:off x="4297680" y="141732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8" name="뽕짝 트로트 header"/>
          <p:cNvSpPr/>
          <p:nvPr/>
        </p:nvSpPr>
        <p:spPr>
          <a:xfrm>
            <a:off x="4297680" y="141732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2628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🎲 5  뽕짝 트로트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주제: 우리 반 자랑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265176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흥겨운 트로트, 아코디언과 신나는 쿵짝 리듬, 보통 템포(110BPM), 꺾기가 있는 구성진 보컬, 우리 반의 웃긴 순간을 자랑하는 노래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800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영어 스타일 칸용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Korean trot, accordion, festive two-step rhythm, 110 BPM, playful vocals with vibrato</a:t>
            </a:r>
            <a:endParaRPr lang="en-US" sz="1200" dirty="0"/>
          </a:p>
        </p:txBody>
      </p:sp>
      <p:sp>
        <p:nvSpPr>
          <p:cNvPr id="24" name="동요 (반전!) recipe"/>
          <p:cNvSpPr/>
          <p:nvPr/>
        </p:nvSpPr>
        <p:spPr>
          <a:xfrm>
            <a:off x="8046720" y="1417320"/>
            <a:ext cx="3520440" cy="45262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25" name="동요 (반전!) header"/>
          <p:cNvSpPr/>
          <p:nvPr/>
        </p:nvSpPr>
        <p:spPr>
          <a:xfrm>
            <a:off x="8046720" y="141732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1417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🎲 6  동요 (반전!)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주제: 나의 꿈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265176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귀엽고 밝은 동요 스타일, 실로폰과 우쿨렐레, 손뼉 소리, 보통 템포(100BPM), 어린이 합창, 그런데 가사는 진지하게 나의 꿈을 이야기하는 반전 노래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800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영어 스타일 칸용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cute children's song, xylophone, ukulele, hand claps, 100 BPM, kids choir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가사는 태그로 · 급식 랩 예시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lyrics box"/>
          <p:cNvSpPr/>
          <p:nvPr/>
        </p:nvSpPr>
        <p:spPr>
          <a:xfrm>
            <a:off x="548640" y="1463040"/>
            <a:ext cx="5120640" cy="4434840"/>
          </a:xfrm>
          <a:prstGeom prst="roundRect">
            <a:avLst>
              <a:gd name="adj" fmla="val 2474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173736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accent4"/>
                </a:solidFill>
              </a:rPr>
              <a:t>[Verse]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4교시 종이 울리면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내 다리는 이미 급식실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줄 서는 시간도 설레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오늘 메뉴 뭐냐고 묻지 마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accent2"/>
                </a:solidFill>
              </a:rPr>
              <a:t>[Chorus]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돈가스 돈가스 오늘은 돈가스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bg1"/>
                </a:solidFill>
              </a:rPr>
              <a:t>이 맛에 학교 온다!</a:t>
            </a:r>
            <a:endParaRPr lang="en-US" sz="1700" dirty="0"/>
          </a:p>
        </p:txBody>
      </p:sp>
      <p:sp>
        <p:nvSpPr>
          <p:cNvPr id="12" name="[Verse] · [Chorus] 태그 circle"/>
          <p:cNvSpPr/>
          <p:nvPr/>
        </p:nvSpPr>
        <p:spPr>
          <a:xfrm>
            <a:off x="621792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[Verse] · [Chorus] 태그" descr="[Verse] · [Chorus] 태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0002" y="1802282"/>
            <a:ext cx="373075" cy="37307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2237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[Verse] · [Chorus] 태그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0574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Verse는 이야기, Chorus는 반복되는 후렴</a:t>
            </a:r>
            <a:endParaRPr lang="en-US" sz="1500" dirty="0"/>
          </a:p>
        </p:txBody>
      </p:sp>
      <p:sp>
        <p:nvSpPr>
          <p:cNvPr id="16" name="후렴은 짧고 중독성 있게 circle"/>
          <p:cNvSpPr/>
          <p:nvPr/>
        </p:nvSpPr>
        <p:spPr>
          <a:xfrm>
            <a:off x="6217920" y="30632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후렴은 짧고 중독성 있게" descr="후렴은 짧고 중독성 있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002" y="3265322"/>
            <a:ext cx="373075" cy="37307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2376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후렴은 짧고 중독성 있게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223760" y="3520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같은 말 반복하면 귀에 착 붙어요</a:t>
            </a:r>
            <a:endParaRPr lang="en-US" sz="1500" dirty="0"/>
          </a:p>
        </p:txBody>
      </p:sp>
      <p:sp>
        <p:nvSpPr>
          <p:cNvPr id="20" name="가사 = 영상 자막 circle"/>
          <p:cNvSpPr/>
          <p:nvPr/>
        </p:nvSpPr>
        <p:spPr>
          <a:xfrm>
            <a:off x="6217920" y="45262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가사 = 영상 자막" descr="가사 = 영상 자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4728362"/>
            <a:ext cx="373075" cy="37307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223760" y="4526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= 영상 자막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722376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노래가 안 불러줘도 자막으로 쓰면 돼요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가사까지 넣는 완성 주문서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two fields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A. 칸이 두 개인 사이트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스타일 칸</a:t>
            </a:r>
            <a:endParaRPr lang="en-US" sz="1300" dirty="0"/>
          </a:p>
        </p:txBody>
      </p:sp>
      <p:sp>
        <p:nvSpPr>
          <p:cNvPr id="13" name="style field"/>
          <p:cNvSpPr/>
          <p:nvPr/>
        </p:nvSpPr>
        <p:spPr>
          <a:xfrm>
            <a:off x="822960" y="2423160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2423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신나고 청량한 K-pop 댄스곡, 밝은 신스, 강한 드럼, 빠른 템포, 맑은 여성 보컬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가사 칸</a:t>
            </a:r>
            <a:endParaRPr lang="en-US" sz="1300" dirty="0"/>
          </a:p>
        </p:txBody>
      </p:sp>
      <p:sp>
        <p:nvSpPr>
          <p:cNvPr id="16" name="lyrics field"/>
          <p:cNvSpPr/>
          <p:nvPr/>
        </p:nvSpPr>
        <p:spPr>
          <a:xfrm>
            <a:off x="822960" y="3749040"/>
            <a:ext cx="484632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84048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[Verse]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4교시 종이 울리면 / 내 다리는 이미 급식실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[Chorus]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돈가스 돈가스 오늘은 돈가스 / 이 맛에 학교 온다!</a:t>
            </a:r>
            <a:endParaRPr lang="en-US" sz="1400" dirty="0"/>
          </a:p>
        </p:txBody>
      </p:sp>
      <p:sp>
        <p:nvSpPr>
          <p:cNvPr id="18" name="one field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B. 칸이 하나인 사이트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한 칸에 스타일 + "한국어 가사:" 를 이어서 써요</a:t>
            </a:r>
            <a:endParaRPr lang="en-US" sz="1300" dirty="0"/>
          </a:p>
        </p:txBody>
      </p:sp>
      <p:sp>
        <p:nvSpPr>
          <p:cNvPr id="21" name="single field"/>
          <p:cNvSpPr/>
          <p:nvPr/>
        </p:nvSpPr>
        <p:spPr>
          <a:xfrm>
            <a:off x="6492240" y="2514600"/>
            <a:ext cx="484632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26517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신나고 청량한 K-pop 댄스곡, 밝은 신스, 강한 드럼, 빠른 템포, 맑은 여성 보컬.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아래 한국어 가사로 불러 줘.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[Verse] 4교시 종이 울리면 / 내 다리는 이미 급식실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[Chorus] 돈가스 돈가스 오늘은 돈가스 / 이 맛에 학교 온다!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MISSION 1 · 활동지 STEP 1~3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LV.1 작사가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step card 1"/>
          <p:cNvSpPr/>
          <p:nvPr/>
        </p:nvSpPr>
        <p:spPr>
          <a:xfrm>
            <a:off x="548640" y="146304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1" name="step 1"/>
          <p:cNvSpPr/>
          <p:nvPr/>
        </p:nvSpPr>
        <p:spPr>
          <a:xfrm>
            <a:off x="777240" y="16184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6184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주제 정하기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463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직접 고르거나 주사위로 결정!</a:t>
            </a:r>
            <a:endParaRPr lang="en-US" sz="1500" dirty="0"/>
          </a:p>
        </p:txBody>
      </p:sp>
      <p:sp>
        <p:nvSpPr>
          <p:cNvPr id="15" name="step card 2"/>
          <p:cNvSpPr/>
          <p:nvPr/>
        </p:nvSpPr>
        <p:spPr>
          <a:xfrm>
            <a:off x="548640" y="256032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6" name="step 2"/>
          <p:cNvSpPr/>
          <p:nvPr/>
        </p:nvSpPr>
        <p:spPr>
          <a:xfrm>
            <a:off x="777240" y="27157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27157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주문서 쓰기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25603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템플릿·레시피 카드를 보고 따라 쓰기</a:t>
            </a:r>
            <a:endParaRPr lang="en-US" sz="1500" dirty="0"/>
          </a:p>
        </p:txBody>
      </p:sp>
      <p:sp>
        <p:nvSpPr>
          <p:cNvPr id="20" name="step card 3"/>
          <p:cNvSpPr/>
          <p:nvPr/>
        </p:nvSpPr>
        <p:spPr>
          <a:xfrm>
            <a:off x="548640" y="3657600"/>
            <a:ext cx="8503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1" name="step 3"/>
          <p:cNvSpPr/>
          <p:nvPr/>
        </p:nvSpPr>
        <p:spPr>
          <a:xfrm>
            <a:off x="777240" y="38130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813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쓰기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36576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[Verse] + [Chorus] 4~8줄</a:t>
            </a:r>
            <a:endParaRPr lang="en-US" sz="1500" dirty="0"/>
          </a:p>
        </p:txBody>
      </p:sp>
      <p:sp>
        <p:nvSpPr>
          <p:cNvPr id="25" name="bonus"/>
          <p:cNvSpPr/>
          <p:nvPr/>
        </p:nvSpPr>
        <p:spPr>
          <a:xfrm>
            <a:off x="548640" y="4892040"/>
            <a:ext cx="850392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26" name="bonus circle"/>
          <p:cNvSpPr/>
          <p:nvPr/>
        </p:nvSpPr>
        <p:spPr>
          <a:xfrm>
            <a:off x="777240" y="5047488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bonus" descr="bon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5225796"/>
            <a:ext cx="329184" cy="329184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645920" y="48920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보너스 XP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후렴에 중독성 있는 반복 구절을 넣으면 +1 ⭐</a:t>
            </a:r>
            <a:endParaRPr lang="en-US" sz="1600" dirty="0"/>
          </a:p>
        </p:txBody>
      </p:sp>
      <p:sp>
        <p:nvSpPr>
          <p:cNvPr id="29" name="timer"/>
          <p:cNvSpPr/>
          <p:nvPr/>
        </p:nvSpPr>
        <p:spPr>
          <a:xfrm>
            <a:off x="9601200" y="146304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60120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12분</a:t>
            </a:r>
            <a:endParaRPr lang="en-US" sz="2800" dirty="0"/>
          </a:p>
        </p:txBody>
      </p:sp>
      <p:sp>
        <p:nvSpPr>
          <p:cNvPr id="32" name="next level circle"/>
          <p:cNvSpPr/>
          <p:nvPr/>
        </p:nvSpPr>
        <p:spPr>
          <a:xfrm>
            <a:off x="10012680" y="292608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next level" descr="next lev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747" y="3235147"/>
            <a:ext cx="570586" cy="57058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326880" y="4251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다 쓰면 바로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LV.2로 레벨업!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LEVEL 2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작곡가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내 휴대폰으로 AI 노래 만들기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작곡가" descr="작곡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MISSION 2 · AI로 내 노래 만들기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LV.2 작곡가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QR로 접속"/>
          <p:cNvSpPr/>
          <p:nvPr/>
        </p:nvSpPr>
        <p:spPr>
          <a:xfrm>
            <a:off x="548640" y="1463040"/>
            <a:ext cx="2011680" cy="33832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11" name="QR로 접속 circle"/>
          <p:cNvSpPr/>
          <p:nvPr/>
        </p:nvSpPr>
        <p:spPr>
          <a:xfrm>
            <a:off x="1097280" y="16916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QR로 접속" descr="QR로 접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192938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QR로 접속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칠판 QR을 찍어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음악 사이트 열기</a:t>
            </a:r>
            <a:endParaRPr lang="en-US" sz="1400" dirty="0"/>
          </a:p>
        </p:txBody>
      </p:sp>
      <p:sp>
        <p:nvSpPr>
          <p:cNvPr id="16" name="주문 넣기"/>
          <p:cNvSpPr/>
          <p:nvPr/>
        </p:nvSpPr>
        <p:spPr>
          <a:xfrm>
            <a:off x="2788920" y="1463040"/>
            <a:ext cx="2011680" cy="33832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17" name="주문 넣기 circle"/>
          <p:cNvSpPr/>
          <p:nvPr/>
        </p:nvSpPr>
        <p:spPr>
          <a:xfrm>
            <a:off x="3337560" y="169164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주문 넣기" descr="주문 넣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929384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78892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STEP 2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278892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주문 넣기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288036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내 프롬프트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(+가사) 입력</a:t>
            </a:r>
            <a:endParaRPr lang="en-US" sz="1400" dirty="0"/>
          </a:p>
        </p:txBody>
      </p:sp>
      <p:sp>
        <p:nvSpPr>
          <p:cNvPr id="22" name="2번 뽑기"/>
          <p:cNvSpPr/>
          <p:nvPr/>
        </p:nvSpPr>
        <p:spPr>
          <a:xfrm>
            <a:off x="5029200" y="1463040"/>
            <a:ext cx="2011680" cy="33832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23" name="2번 뽑기 circle"/>
          <p:cNvSpPr/>
          <p:nvPr/>
        </p:nvSpPr>
        <p:spPr>
          <a:xfrm>
            <a:off x="5577840" y="16916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2번 뽑기" descr="2번 뽑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1929384"/>
            <a:ext cx="438912" cy="43891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02920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3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02920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2번 뽑기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512064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두 번 이상 만들고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베스트 곡 고르기</a:t>
            </a:r>
            <a:endParaRPr lang="en-US" sz="1400" dirty="0"/>
          </a:p>
        </p:txBody>
      </p:sp>
      <p:sp>
        <p:nvSpPr>
          <p:cNvPr id="28" name="MP3 저장"/>
          <p:cNvSpPr/>
          <p:nvPr/>
        </p:nvSpPr>
        <p:spPr>
          <a:xfrm>
            <a:off x="7269480" y="1463040"/>
            <a:ext cx="2011680" cy="33832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1B1035">
                <a:alpha val="12000"/>
              </a:srgbClr>
            </a:outerShdw>
          </a:effectLst>
        </p:spPr>
      </p:sp>
      <p:sp>
        <p:nvSpPr>
          <p:cNvPr id="29" name="MP3 저장 circle"/>
          <p:cNvSpPr/>
          <p:nvPr/>
        </p:nvSpPr>
        <p:spPr>
          <a:xfrm>
            <a:off x="7818120" y="169164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MP3 저장" descr="MP3 저장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929384"/>
            <a:ext cx="438912" cy="43891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26948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STEP 4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72694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MP3 저장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736092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다운로드해서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재생되는지 확인</a:t>
            </a:r>
            <a:endParaRPr lang="en-US" sz="1400" dirty="0"/>
          </a:p>
        </p:txBody>
      </p:sp>
      <p:sp>
        <p:nvSpPr>
          <p:cNvPr id="34" name="backup"/>
          <p:cNvSpPr/>
          <p:nvPr/>
        </p:nvSpPr>
        <p:spPr>
          <a:xfrm>
            <a:off x="548640" y="5120640"/>
            <a:ext cx="85953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22960" y="5120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안 되면?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5분 안에 안 되면 패들렛 예비 음원에서 골라도 레벨업 인정!</a:t>
            </a:r>
            <a:endParaRPr lang="en-US" sz="1500" dirty="0"/>
          </a:p>
        </p:txBody>
      </p:sp>
      <p:sp>
        <p:nvSpPr>
          <p:cNvPr id="36" name="timer"/>
          <p:cNvSpPr/>
          <p:nvPr/>
        </p:nvSpPr>
        <p:spPr>
          <a:xfrm>
            <a:off x="9601200" y="146304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960120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960120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15분</a:t>
            </a:r>
            <a:endParaRPr lang="en-US" sz="2800" dirty="0"/>
          </a:p>
        </p:txBody>
      </p:sp>
      <p:sp>
        <p:nvSpPr>
          <p:cNvPr id="39" name="storyboard circle"/>
          <p:cNvSpPr/>
          <p:nvPr/>
        </p:nvSpPr>
        <p:spPr>
          <a:xfrm>
            <a:off x="10012680" y="292608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storyboard" descr="storybo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1747" y="3235147"/>
            <a:ext cx="570586" cy="570586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326880" y="4251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기다리는 동안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스토리보드 그리기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마음에 안 들면? 리믹스 주문 추가하기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LV.2 작곡가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fix 1"/>
          <p:cNvSpPr/>
          <p:nvPr/>
        </p:nvSpPr>
        <p:spPr>
          <a:xfrm>
            <a:off x="548640" y="14173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527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😴 너무 느려요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011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"빠른 템포, 120BPM, 신나는 드럼" 추가</a:t>
            </a:r>
            <a:endParaRPr lang="en-US" sz="1500" dirty="0"/>
          </a:p>
        </p:txBody>
      </p:sp>
      <p:sp>
        <p:nvSpPr>
          <p:cNvPr id="13" name="fix 2"/>
          <p:cNvSpPr/>
          <p:nvPr/>
        </p:nvSpPr>
        <p:spPr>
          <a:xfrm>
            <a:off x="6172200" y="14173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527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🙉 가사가 잘 안 들려요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11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"또렷한 발음의 보컬, 반주는 작게" 추가</a:t>
            </a:r>
            <a:endParaRPr lang="en-US" sz="1500" dirty="0"/>
          </a:p>
        </p:txBody>
      </p:sp>
      <p:sp>
        <p:nvSpPr>
          <p:cNvPr id="16" name="fix 3"/>
          <p:cNvSpPr/>
          <p:nvPr/>
        </p:nvSpPr>
        <p:spPr>
          <a:xfrm>
            <a:off x="548640" y="292608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0358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😐 너무 평범해요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"후렴에 손뼉 소리와 다 같이 외치는 떼창" 추가</a:t>
            </a:r>
            <a:endParaRPr lang="en-US" sz="1500" dirty="0"/>
          </a:p>
        </p:txBody>
      </p:sp>
      <p:sp>
        <p:nvSpPr>
          <p:cNvPr id="19" name="fix 4"/>
          <p:cNvSpPr/>
          <p:nvPr/>
        </p:nvSpPr>
        <p:spPr>
          <a:xfrm>
            <a:off x="6172200" y="292608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0358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🌧 분위기가 달라요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분위기 단어를 2개 더: "몽환적인, 청량한"</a:t>
            </a:r>
            <a:endParaRPr lang="en-US" sz="1500" dirty="0"/>
          </a:p>
        </p:txBody>
      </p:sp>
      <p:sp>
        <p:nvSpPr>
          <p:cNvPr id="22" name="fix 5"/>
          <p:cNvSpPr/>
          <p:nvPr/>
        </p:nvSpPr>
        <p:spPr>
          <a:xfrm>
            <a:off x="548640" y="443484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544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🎤 목소리가 어색해요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"보컬 없음(instrumental)"로 바꾸고 가사는 자막으로</a:t>
            </a:r>
            <a:endParaRPr lang="en-US" sz="1500" dirty="0"/>
          </a:p>
        </p:txBody>
      </p:sp>
      <p:sp>
        <p:nvSpPr>
          <p:cNvPr id="25" name="fix 6"/>
          <p:cNvSpPr/>
          <p:nvPr/>
        </p:nvSpPr>
        <p:spPr>
          <a:xfrm>
            <a:off x="6172200" y="443484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4544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⏱ 노래가 너무 길어요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괜찮아요! 편집할 때 30초만 잘라 쓰면 OK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깜짝 청음회 · 리액션 준비!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LV.2 작곡가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🔥 미쳤다"/>
          <p:cNvSpPr/>
          <p:nvPr/>
        </p:nvSpPr>
        <p:spPr>
          <a:xfrm>
            <a:off x="548640" y="14630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🔥 미쳤다 circle"/>
          <p:cNvSpPr/>
          <p:nvPr/>
        </p:nvSpPr>
        <p:spPr>
          <a:xfrm>
            <a:off x="1325880" y="169164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🔥 미쳤다" descr="🔥 미쳤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9286" y="1965046"/>
            <a:ext cx="504749" cy="50474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🔥 미쳤다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두 손 머리 위로</a:t>
            </a:r>
            <a:endParaRPr lang="en-US" sz="1500" dirty="0"/>
          </a:p>
        </p:txBody>
      </p:sp>
      <p:sp>
        <p:nvSpPr>
          <p:cNvPr id="15" name="😂 빵 터짐"/>
          <p:cNvSpPr/>
          <p:nvPr/>
        </p:nvSpPr>
        <p:spPr>
          <a:xfrm>
            <a:off x="3383280" y="14630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😂 빵 터짐 circle"/>
          <p:cNvSpPr/>
          <p:nvPr/>
        </p:nvSpPr>
        <p:spPr>
          <a:xfrm>
            <a:off x="4160520" y="1691640"/>
            <a:ext cx="1051560" cy="10515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😂 빵 터짐" descr="😂 빵 터짐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926" y="1965046"/>
            <a:ext cx="504749" cy="50474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38328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😂 빵 터짐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338328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책상 두 번 탕탕</a:t>
            </a:r>
            <a:endParaRPr lang="en-US" sz="1500" dirty="0"/>
          </a:p>
        </p:txBody>
      </p:sp>
      <p:sp>
        <p:nvSpPr>
          <p:cNvPr id="20" name="💜 감동"/>
          <p:cNvSpPr/>
          <p:nvPr/>
        </p:nvSpPr>
        <p:spPr>
          <a:xfrm>
            <a:off x="6217920" y="14630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1" name="💜 감동 circle"/>
          <p:cNvSpPr/>
          <p:nvPr/>
        </p:nvSpPr>
        <p:spPr>
          <a:xfrm>
            <a:off x="6995160" y="1691640"/>
            <a:ext cx="1051560" cy="1051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💜 감동" descr="💜 감동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566" y="1965046"/>
            <a:ext cx="504749" cy="50474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1792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💜 감동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손하트</a:t>
            </a:r>
            <a:endParaRPr lang="en-US" sz="1500" dirty="0"/>
          </a:p>
        </p:txBody>
      </p:sp>
      <p:sp>
        <p:nvSpPr>
          <p:cNvPr id="25" name="🎧 중독"/>
          <p:cNvSpPr/>
          <p:nvPr/>
        </p:nvSpPr>
        <p:spPr>
          <a:xfrm>
            <a:off x="9052560" y="146304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6" name="🎧 중독 circle"/>
          <p:cNvSpPr/>
          <p:nvPr/>
        </p:nvSpPr>
        <p:spPr>
          <a:xfrm>
            <a:off x="9829800" y="1691640"/>
            <a:ext cx="1051560" cy="10515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🎧 중독" descr="🎧 중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3206" y="1965046"/>
            <a:ext cx="504749" cy="50474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052560" y="2926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🎧 중독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905256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고개 까딱까딱</a:t>
            </a:r>
            <a:endParaRPr lang="en-US" sz="1500" dirty="0"/>
          </a:p>
        </p:txBody>
      </p:sp>
      <p:sp>
        <p:nvSpPr>
          <p:cNvPr id="30" name="how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31" name="random pick circle"/>
          <p:cNvSpPr/>
          <p:nvPr/>
        </p:nvSpPr>
        <p:spPr>
          <a:xfrm>
            <a:off x="777240" y="489204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2" name="random pick" descr="random pi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5094122"/>
            <a:ext cx="373075" cy="37307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828800" y="466344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번호 뽑기로 3명!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뽑힌 친구 노래를 15초씩 함께 듣고 리액션으로 응원해요 (원하지 않으면 패스 가능)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LEVEL 3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감독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촬영 빙고로 내 노래의 장면 모으기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감독" descr="감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3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MISSION 3 · 촬영 빙고!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LV.3 감독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bingo 1"/>
          <p:cNvSpPr/>
          <p:nvPr/>
        </p:nvSpPr>
        <p:spPr>
          <a:xfrm>
            <a:off x="548640" y="141732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✋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손 클로즈업</a:t>
            </a:r>
            <a:endParaRPr lang="en-US" sz="1500" dirty="0"/>
          </a:p>
        </p:txBody>
      </p:sp>
      <p:sp>
        <p:nvSpPr>
          <p:cNvPr id="13" name="bingo 2"/>
          <p:cNvSpPr/>
          <p:nvPr/>
        </p:nvSpPr>
        <p:spPr>
          <a:xfrm>
            <a:off x="3063240" y="141732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🌤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창밖 하늘</a:t>
            </a:r>
            <a:endParaRPr lang="en-US" sz="1500" dirty="0"/>
          </a:p>
        </p:txBody>
      </p:sp>
      <p:sp>
        <p:nvSpPr>
          <p:cNvPr id="16" name="bingo 3"/>
          <p:cNvSpPr/>
          <p:nvPr/>
        </p:nvSpPr>
        <p:spPr>
          <a:xfrm>
            <a:off x="5577840" y="141732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1554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👟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21488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걸어가는 운동화</a:t>
            </a:r>
            <a:endParaRPr lang="en-US" sz="1500" dirty="0"/>
          </a:p>
        </p:txBody>
      </p:sp>
      <p:sp>
        <p:nvSpPr>
          <p:cNvPr id="19" name="bingo 4"/>
          <p:cNvSpPr/>
          <p:nvPr/>
        </p:nvSpPr>
        <p:spPr>
          <a:xfrm>
            <a:off x="548640" y="292608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🌑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657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내 그림자</a:t>
            </a:r>
            <a:endParaRPr lang="en-US" sz="1500" dirty="0"/>
          </a:p>
        </p:txBody>
      </p:sp>
      <p:sp>
        <p:nvSpPr>
          <p:cNvPr id="22" name="bingo 5"/>
          <p:cNvSpPr/>
          <p:nvPr/>
        </p:nvSpPr>
        <p:spPr>
          <a:xfrm>
            <a:off x="3063240" y="292608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6324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⭐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3154680" y="3657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자유 컷</a:t>
            </a:r>
            <a:endParaRPr lang="en-US" sz="1500" dirty="0"/>
          </a:p>
        </p:txBody>
      </p:sp>
      <p:sp>
        <p:nvSpPr>
          <p:cNvPr id="25" name="bingo 6"/>
          <p:cNvSpPr/>
          <p:nvPr/>
        </p:nvSpPr>
        <p:spPr>
          <a:xfrm>
            <a:off x="5577840" y="292608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✏️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3657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칠판 낙서</a:t>
            </a:r>
            <a:endParaRPr lang="en-US" sz="1500" dirty="0"/>
          </a:p>
        </p:txBody>
      </p:sp>
      <p:sp>
        <p:nvSpPr>
          <p:cNvPr id="28" name="bingo 7"/>
          <p:cNvSpPr/>
          <p:nvPr/>
        </p:nvSpPr>
        <p:spPr>
          <a:xfrm>
            <a:off x="548640" y="443484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572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🚶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복도 뒷모습</a:t>
            </a:r>
            <a:endParaRPr lang="en-US" sz="1500" dirty="0"/>
          </a:p>
        </p:txBody>
      </p:sp>
      <p:sp>
        <p:nvSpPr>
          <p:cNvPr id="31" name="bingo 8"/>
          <p:cNvSpPr/>
          <p:nvPr/>
        </p:nvSpPr>
        <p:spPr>
          <a:xfrm>
            <a:off x="3063240" y="443484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63240" y="4572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🍂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315468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슬로모션 물건</a:t>
            </a:r>
            <a:endParaRPr lang="en-US" sz="1500" dirty="0"/>
          </a:p>
        </p:txBody>
      </p:sp>
      <p:sp>
        <p:nvSpPr>
          <p:cNvPr id="34" name="bingo 9"/>
          <p:cNvSpPr/>
          <p:nvPr/>
        </p:nvSpPr>
        <p:spPr>
          <a:xfrm>
            <a:off x="5577840" y="4434840"/>
            <a:ext cx="2331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77840" y="4572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💜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친구 손하트 (동의!)</a:t>
            </a:r>
            <a:endParaRPr lang="en-US" sz="1500" dirty="0"/>
          </a:p>
        </p:txBody>
      </p:sp>
      <p:sp>
        <p:nvSpPr>
          <p:cNvPr id="37" name="bingo rules"/>
          <p:cNvSpPr/>
          <p:nvPr/>
        </p:nvSpPr>
        <p:spPr>
          <a:xfrm>
            <a:off x="8321040" y="1417320"/>
            <a:ext cx="3291840" cy="4434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9536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빙고 규칙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8595360" y="219456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한 줄(3컷) 찍으면 빙고!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4~6컷이면 뮤직비디오 완성 충분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세로로, 한 컷 3~5초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얼굴 대신 손·뒷모습</a:t>
            </a:r>
            <a:endParaRPr lang="en-US" sz="1500" dirty="0"/>
          </a:p>
        </p:txBody>
      </p:sp>
      <p:sp>
        <p:nvSpPr>
          <p:cNvPr id="40" name="timer"/>
          <p:cNvSpPr/>
          <p:nvPr/>
        </p:nvSpPr>
        <p:spPr>
          <a:xfrm>
            <a:off x="8961120" y="475488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61120" y="4864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961120" y="5138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10분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감독님의 촬영 꿀팁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LV.3 감독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세로로 찍기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세로로 찍기 circle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세로로 찍기" descr="세로로 찍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6654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0116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세로로 찍기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쇼츠처럼 세로(9:16)로 통일</a:t>
            </a:r>
            <a:endParaRPr lang="en-US" sz="1500" dirty="0"/>
          </a:p>
        </p:txBody>
      </p:sp>
      <p:sp>
        <p:nvSpPr>
          <p:cNvPr id="15" name="한 컷 3~5초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한 컷 3~5초 circle"/>
          <p:cNvSpPr/>
          <p:nvPr/>
        </p:nvSpPr>
        <p:spPr>
          <a:xfrm>
            <a:off x="6492240" y="18288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한 컷 3~5초" descr="한 컷 3~5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06654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35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한 컷 3~5초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흔들리지 않게 천천히</a:t>
            </a:r>
            <a:endParaRPr lang="en-US" sz="1500" dirty="0"/>
          </a:p>
        </p:txBody>
      </p:sp>
      <p:sp>
        <p:nvSpPr>
          <p:cNvPr id="20" name="빛을 등지지 않기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빛을 등지지 않기 circle"/>
          <p:cNvSpPr/>
          <p:nvPr/>
        </p:nvSpPr>
        <p:spPr>
          <a:xfrm>
            <a:off x="868680" y="406908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빛을 등지지 않기" descr="빛을 등지지 않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306824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01168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빛을 등지지 않기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201168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창가·복도처럼 밝은 곳에서</a:t>
            </a:r>
            <a:endParaRPr lang="en-US" sz="1500" dirty="0"/>
          </a:p>
        </p:txBody>
      </p:sp>
      <p:sp>
        <p:nvSpPr>
          <p:cNvPr id="25" name="카메라도 움직이기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카메라도 움직이기 circle"/>
          <p:cNvSpPr/>
          <p:nvPr/>
        </p:nvSpPr>
        <p:spPr>
          <a:xfrm>
            <a:off x="6492240" y="4069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카메라도 움직이기" descr="카메라도 움직이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30682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3524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카메라도 움직이기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763524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따라가기, 아래에서 위로 올리기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LEVEL 4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편집자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CapCut으로 노래와 장면을 하나로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편집자" descr="편집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4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MISSION 4 · CapCut 편집 5단계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LV.4 편집자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step card 1"/>
          <p:cNvSpPr/>
          <p:nvPr/>
        </p:nvSpPr>
        <p:spPr>
          <a:xfrm>
            <a:off x="548640" y="14173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1" name="step 1"/>
          <p:cNvSpPr/>
          <p:nvPr/>
        </p:nvSpPr>
        <p:spPr>
          <a:xfrm>
            <a:off x="749808" y="15270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4173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새 프로젝트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찍은 사진·영상을 빙고 순서대로 선택</a:t>
            </a:r>
            <a:endParaRPr lang="en-US" sz="1400" dirty="0"/>
          </a:p>
        </p:txBody>
      </p:sp>
      <p:sp>
        <p:nvSpPr>
          <p:cNvPr id="15" name="step card 2"/>
          <p:cNvSpPr/>
          <p:nvPr/>
        </p:nvSpPr>
        <p:spPr>
          <a:xfrm>
            <a:off x="548640" y="23317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6" name="step 2"/>
          <p:cNvSpPr/>
          <p:nvPr/>
        </p:nvSpPr>
        <p:spPr>
          <a:xfrm>
            <a:off x="749808" y="24414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331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노래 넣기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331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오디오 → 사운드 → 기기(내 파일)에서 내 노래</a:t>
            </a:r>
            <a:endParaRPr lang="en-US" sz="1400" dirty="0"/>
          </a:p>
        </p:txBody>
      </p:sp>
      <p:sp>
        <p:nvSpPr>
          <p:cNvPr id="20" name="step card 3"/>
          <p:cNvSpPr/>
          <p:nvPr/>
        </p:nvSpPr>
        <p:spPr>
          <a:xfrm>
            <a:off x="548640" y="32461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step 3"/>
          <p:cNvSpPr/>
          <p:nvPr/>
        </p:nvSpPr>
        <p:spPr>
          <a:xfrm>
            <a:off x="749808" y="33558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246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박자에 맞춰 자르기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3246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클립 선택 → 분할, 길게 눌러 순서 바꾸기</a:t>
            </a:r>
            <a:endParaRPr lang="en-US" sz="1400" dirty="0"/>
          </a:p>
        </p:txBody>
      </p:sp>
      <p:sp>
        <p:nvSpPr>
          <p:cNvPr id="25" name="step card 4"/>
          <p:cNvSpPr/>
          <p:nvPr/>
        </p:nvSpPr>
        <p:spPr>
          <a:xfrm>
            <a:off x="548640" y="41605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6" name="step 4"/>
          <p:cNvSpPr/>
          <p:nvPr/>
        </p:nvSpPr>
        <p:spPr>
          <a:xfrm>
            <a:off x="749808" y="42702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160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자막 · 효과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4160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텍스트로 제목·후렴 가사, 필터 하나로 색감 통일</a:t>
            </a:r>
            <a:endParaRPr lang="en-US" sz="1400" dirty="0"/>
          </a:p>
        </p:txBody>
      </p:sp>
      <p:sp>
        <p:nvSpPr>
          <p:cNvPr id="30" name="step card 5"/>
          <p:cNvSpPr/>
          <p:nvPr/>
        </p:nvSpPr>
        <p:spPr>
          <a:xfrm>
            <a:off x="548640" y="5074920"/>
            <a:ext cx="85039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1" name="step 5"/>
          <p:cNvSpPr/>
          <p:nvPr/>
        </p:nvSpPr>
        <p:spPr>
          <a:xfrm>
            <a:off x="749808" y="518464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49808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0749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내보내기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3931920" y="5074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오른쪽 위 내보내기 → 패들렛에 올리기</a:t>
            </a:r>
            <a:endParaRPr lang="en-US" sz="1400" dirty="0"/>
          </a:p>
        </p:txBody>
      </p:sp>
      <p:sp>
        <p:nvSpPr>
          <p:cNvPr id="35" name="timer"/>
          <p:cNvSpPr/>
          <p:nvPr/>
        </p:nvSpPr>
        <p:spPr>
          <a:xfrm>
            <a:off x="9601200" y="1417320"/>
            <a:ext cx="2011680" cy="1005840"/>
          </a:xfrm>
          <a:prstGeom prst="roundRect">
            <a:avLst>
              <a:gd name="adj" fmla="val 12727"/>
            </a:avLst>
          </a:prstGeom>
          <a:solidFill>
            <a:schemeClr val="tx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01200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실습 시간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01200" y="18013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20분</a:t>
            </a:r>
            <a:endParaRPr lang="en-US" sz="2800" dirty="0"/>
          </a:p>
        </p:txBody>
      </p:sp>
      <p:sp>
        <p:nvSpPr>
          <p:cNvPr id="38" name="edit circle"/>
          <p:cNvSpPr/>
          <p:nvPr/>
        </p:nvSpPr>
        <p:spPr>
          <a:xfrm>
            <a:off x="10012680" y="2880360"/>
            <a:ext cx="1188720" cy="11887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9" name="edit" descr="e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47" y="3189427"/>
            <a:ext cx="570586" cy="570586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9326880" y="4206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노래 파일 찾기: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갤럭시 '내 파일',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아이폰 '파일' 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레벨업 아이템 · 이것만 써도 프로 느낌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LV.4 편집자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박자 컷"/>
          <p:cNvSpPr/>
          <p:nvPr/>
        </p:nvSpPr>
        <p:spPr>
          <a:xfrm>
            <a:off x="548640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박자 컷 circle"/>
          <p:cNvSpPr/>
          <p:nvPr/>
        </p:nvSpPr>
        <p:spPr>
          <a:xfrm>
            <a:off x="1051560" y="173736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박자 컷" descr="박자 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199887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박자 컷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드럼 '쿵'에 맞춰 장면 바꾸기</a:t>
            </a:r>
            <a:endParaRPr lang="en-US" sz="1400" dirty="0"/>
          </a:p>
        </p:txBody>
      </p:sp>
      <p:sp>
        <p:nvSpPr>
          <p:cNvPr id="15" name="속도 조절"/>
          <p:cNvSpPr/>
          <p:nvPr/>
        </p:nvSpPr>
        <p:spPr>
          <a:xfrm>
            <a:off x="2807208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속도 조절 circle"/>
          <p:cNvSpPr/>
          <p:nvPr/>
        </p:nvSpPr>
        <p:spPr>
          <a:xfrm>
            <a:off x="3310128" y="1737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속도 조절" descr="속도 조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998878"/>
            <a:ext cx="482803" cy="482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07208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속도 조절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2944368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슬로모션 · 빨리감기로 재미 UP</a:t>
            </a:r>
            <a:endParaRPr lang="en-US" sz="1400" dirty="0"/>
          </a:p>
        </p:txBody>
      </p:sp>
      <p:sp>
        <p:nvSpPr>
          <p:cNvPr id="20" name="가사 자막"/>
          <p:cNvSpPr/>
          <p:nvPr/>
        </p:nvSpPr>
        <p:spPr>
          <a:xfrm>
            <a:off x="5065776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가사 자막 circle"/>
          <p:cNvSpPr/>
          <p:nvPr/>
        </p:nvSpPr>
        <p:spPr>
          <a:xfrm>
            <a:off x="5568696" y="173736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가사 자막" descr="가사 자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14" y="1998878"/>
            <a:ext cx="482803" cy="482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65776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가사 자막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5202936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후렴 가사를 크게 팡!</a:t>
            </a:r>
            <a:endParaRPr lang="en-US" sz="1400" dirty="0"/>
          </a:p>
        </p:txBody>
      </p:sp>
      <p:sp>
        <p:nvSpPr>
          <p:cNvPr id="25" name="필터 하나"/>
          <p:cNvSpPr/>
          <p:nvPr/>
        </p:nvSpPr>
        <p:spPr>
          <a:xfrm>
            <a:off x="7324344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필터 하나 circle"/>
          <p:cNvSpPr/>
          <p:nvPr/>
        </p:nvSpPr>
        <p:spPr>
          <a:xfrm>
            <a:off x="7827264" y="173736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필터 하나" descr="필터 하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1998878"/>
            <a:ext cx="482803" cy="48280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24344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필터 하나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461504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모든 장면에 같은 필터</a:t>
            </a:r>
            <a:endParaRPr lang="en-US" sz="1400" dirty="0"/>
          </a:p>
        </p:txBody>
      </p:sp>
      <p:sp>
        <p:nvSpPr>
          <p:cNvPr id="30" name="전환 1~2개"/>
          <p:cNvSpPr/>
          <p:nvPr/>
        </p:nvSpPr>
        <p:spPr>
          <a:xfrm>
            <a:off x="9582912" y="1463040"/>
            <a:ext cx="2011680" cy="35661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1" name="전환 1~2개 circle"/>
          <p:cNvSpPr/>
          <p:nvPr/>
        </p:nvSpPr>
        <p:spPr>
          <a:xfrm>
            <a:off x="10085832" y="173736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전환 1~2개" descr="전환 1~2개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350" y="1998878"/>
            <a:ext cx="482803" cy="48280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82912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전환 1~2개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9720072" y="35204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후렴 시작에만 쓰면 세련됨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기억하기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효과는 적을수록 세련돼요. 박자에 맞춘 컷이 최강 아이템!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이건 레드카드! AI 반칙 4가지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LV.4 편집자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얼굴·목소리 합성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얼굴·목소리 합성 circle"/>
          <p:cNvSpPr/>
          <p:nvPr/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얼굴·목소리 합성" descr="얼굴·목소리 합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06654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01168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얼굴·목소리 합성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친구·연예인 얼굴이나 목소리를 허락 없이 합성 = 딥페이크 범죄</a:t>
            </a:r>
            <a:endParaRPr lang="en-US" sz="1500" dirty="0"/>
          </a:p>
        </p:txBody>
      </p:sp>
      <p:sp>
        <p:nvSpPr>
          <p:cNvPr id="15" name="몰래 찍기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몰래 찍기 circle"/>
          <p:cNvSpPr/>
          <p:nvPr/>
        </p:nvSpPr>
        <p:spPr>
          <a:xfrm>
            <a:off x="6492240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몰래 찍기" descr="몰래 찍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066544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35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몰래 찍기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친구가 나오면 먼저 허락받기</a:t>
            </a:r>
            <a:endParaRPr lang="en-US" sz="1500" dirty="0"/>
          </a:p>
        </p:txBody>
      </p:sp>
      <p:sp>
        <p:nvSpPr>
          <p:cNvPr id="20" name="AI 작품 숨기기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AI 작품 숨기기 circle"/>
          <p:cNvSpPr/>
          <p:nvPr/>
        </p:nvSpPr>
        <p:spPr>
          <a:xfrm>
            <a:off x="868680" y="40690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AI 작품 숨기기" descr="AI 작품 숨기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306824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01168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작품 숨기기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201168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마지막 장면에 'AI로 만든 작품' 쓰기</a:t>
            </a:r>
            <a:endParaRPr lang="en-US" sz="1500" dirty="0"/>
          </a:p>
        </p:txBody>
      </p:sp>
      <p:sp>
        <p:nvSpPr>
          <p:cNvPr id="25" name="팔거나 수익 내기"/>
          <p:cNvSpPr/>
          <p:nvPr/>
        </p:nvSpPr>
        <p:spPr>
          <a:xfrm>
            <a:off x="6172200" y="370332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팔거나 수익 내기 circle"/>
          <p:cNvSpPr/>
          <p:nvPr/>
        </p:nvSpPr>
        <p:spPr>
          <a:xfrm>
            <a:off x="6492240" y="406908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팔거나 수익 내기" descr="팔거나 수익 내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30682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3524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팔거나 수익 내기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7635240" y="4572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오늘 만든 노래·영상은 개인 감상용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LEVEL 5</a:t>
            </a:r>
            <a:endParaRPr lang="en-US" sz="4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시상식 모드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짝 감상 → 상영회 → 시상!</a:t>
            </a:r>
            <a:endParaRPr lang="en-US" sz="2000" dirty="0"/>
          </a:p>
        </p:txBody>
      </p:sp>
      <p:sp>
        <p:nvSpPr>
          <p:cNvPr id="5" name="level badge"/>
          <p:cNvSpPr/>
          <p:nvPr/>
        </p:nvSpPr>
        <p:spPr>
          <a:xfrm>
            <a:off x="8503920" y="1371600"/>
            <a:ext cx="2743200" cy="2743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시상식" descr="시상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103120"/>
            <a:ext cx="1280160" cy="1280160"/>
          </a:xfrm>
          <a:prstGeom prst="rect">
            <a:avLst/>
          </a:prstGeom>
        </p:spPr>
      </p:pic>
      <p:sp>
        <p:nvSpPr>
          <p:cNvPr id="7" name="xp 1"/>
          <p:cNvSpPr/>
          <p:nvPr/>
        </p:nvSpPr>
        <p:spPr>
          <a:xfrm>
            <a:off x="8503920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8" name="xp 2"/>
          <p:cNvSpPr/>
          <p:nvPr/>
        </p:nvSpPr>
        <p:spPr>
          <a:xfrm>
            <a:off x="9070848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9" name="xp 3"/>
          <p:cNvSpPr/>
          <p:nvPr/>
        </p:nvSpPr>
        <p:spPr>
          <a:xfrm>
            <a:off x="9637776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0" name="xp 4"/>
          <p:cNvSpPr/>
          <p:nvPr/>
        </p:nvSpPr>
        <p:spPr>
          <a:xfrm>
            <a:off x="10204704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1" name="xp 5"/>
          <p:cNvSpPr/>
          <p:nvPr/>
        </p:nvSpPr>
        <p:spPr>
          <a:xfrm>
            <a:off x="10771632" y="45720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0392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5 /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오늘의 AI 뮤직비디오 어워즈 🏆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LV.5 시상식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10" name="🎧 귀호강상"/>
          <p:cNvSpPr/>
          <p:nvPr/>
        </p:nvSpPr>
        <p:spPr>
          <a:xfrm>
            <a:off x="548640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🎧 귀호강상 circle"/>
          <p:cNvSpPr/>
          <p:nvPr/>
        </p:nvSpPr>
        <p:spPr>
          <a:xfrm>
            <a:off x="1051560" y="16916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🎧 귀호강상" descr="🎧 귀호강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195315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🎧 귀호강상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노래가 제일 좋은 작품</a:t>
            </a:r>
            <a:endParaRPr lang="en-US" sz="1400" dirty="0"/>
          </a:p>
        </p:txBody>
      </p:sp>
      <p:sp>
        <p:nvSpPr>
          <p:cNvPr id="15" name="😂 빵터짐상"/>
          <p:cNvSpPr/>
          <p:nvPr/>
        </p:nvSpPr>
        <p:spPr>
          <a:xfrm>
            <a:off x="2807208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😂 빵터짐상 circle"/>
          <p:cNvSpPr/>
          <p:nvPr/>
        </p:nvSpPr>
        <p:spPr>
          <a:xfrm>
            <a:off x="3310128" y="169164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😂 빵터짐상" descr="😂 빵터짐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953158"/>
            <a:ext cx="482803" cy="4828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07208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😂 빵터짐상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2944368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제일 웃긴 작품</a:t>
            </a:r>
            <a:endParaRPr lang="en-US" sz="1400" dirty="0"/>
          </a:p>
        </p:txBody>
      </p:sp>
      <p:sp>
        <p:nvSpPr>
          <p:cNvPr id="20" name="🎬 감독상"/>
          <p:cNvSpPr/>
          <p:nvPr/>
        </p:nvSpPr>
        <p:spPr>
          <a:xfrm>
            <a:off x="5065776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🎬 감독상 circle"/>
          <p:cNvSpPr/>
          <p:nvPr/>
        </p:nvSpPr>
        <p:spPr>
          <a:xfrm>
            <a:off x="5568696" y="169164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🎬 감독상" descr="🎬 감독상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14" y="1953158"/>
            <a:ext cx="482803" cy="48280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65776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🎬 감독상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5202936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장면이 제일 멋진 작품</a:t>
            </a:r>
            <a:endParaRPr lang="en-US" sz="1400" dirty="0"/>
          </a:p>
        </p:txBody>
      </p:sp>
      <p:sp>
        <p:nvSpPr>
          <p:cNvPr id="25" name="🥁 박자장인상"/>
          <p:cNvSpPr/>
          <p:nvPr/>
        </p:nvSpPr>
        <p:spPr>
          <a:xfrm>
            <a:off x="7324344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🥁 박자장인상 circle"/>
          <p:cNvSpPr/>
          <p:nvPr/>
        </p:nvSpPr>
        <p:spPr>
          <a:xfrm>
            <a:off x="7827264" y="169164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🥁 박자장인상" descr="🥁 박자장인상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782" y="1953158"/>
            <a:ext cx="482803" cy="48280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24344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🥁 박자장인상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461504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박자 컷이 찰떡인 작품</a:t>
            </a:r>
            <a:endParaRPr lang="en-US" sz="1400" dirty="0"/>
          </a:p>
        </p:txBody>
      </p:sp>
      <p:sp>
        <p:nvSpPr>
          <p:cNvPr id="30" name="💡 아이디어상"/>
          <p:cNvSpPr/>
          <p:nvPr/>
        </p:nvSpPr>
        <p:spPr>
          <a:xfrm>
            <a:off x="9582912" y="1463040"/>
            <a:ext cx="2011680" cy="28346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1" name="💡 아이디어상 circle"/>
          <p:cNvSpPr/>
          <p:nvPr/>
        </p:nvSpPr>
        <p:spPr>
          <a:xfrm>
            <a:off x="10085832" y="169164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2" name="💡 아이디어상" descr="💡 아이디어상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350" y="1953158"/>
            <a:ext cx="482803" cy="48280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582912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💡 아이디어상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9720072" y="33375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기발한 주제의 작품</a:t>
            </a:r>
            <a:endParaRPr lang="en-US" sz="1400" dirty="0"/>
          </a:p>
        </p:txBody>
      </p:sp>
      <p:sp>
        <p:nvSpPr>
          <p:cNvPr id="35" name="how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86868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① 짝 감상 (3분) 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휴대폰 바꿔 보고 활동지에 칭찬 1 + 제안 1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② 상영회 (5분) 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패들렛 작품 3~4편 함께 보고 손들기 투표로 시상!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🎉 GAME CLEAR!</a:t>
            </a:r>
            <a:endParaRPr lang="en-US" sz="2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오늘 여러분은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진짜 AI 프로듀서!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배지 4개 획득! 활동지에 '오늘의 소감'을 적어 주세요</a:t>
            </a:r>
            <a:endParaRPr lang="en-US" sz="2000" dirty="0"/>
          </a:p>
        </p:txBody>
      </p:sp>
      <p:sp>
        <p:nvSpPr>
          <p:cNvPr id="5" name="badge 1 circle"/>
          <p:cNvSpPr/>
          <p:nvPr/>
        </p:nvSpPr>
        <p:spPr>
          <a:xfrm>
            <a:off x="8229600" y="1554480"/>
            <a:ext cx="1325880" cy="13258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badge 1" descr="badg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329" y="1899209"/>
            <a:ext cx="636422" cy="636422"/>
          </a:xfrm>
          <a:prstGeom prst="rect">
            <a:avLst/>
          </a:prstGeom>
        </p:spPr>
      </p:pic>
      <p:sp>
        <p:nvSpPr>
          <p:cNvPr id="7" name="badge 2 circle"/>
          <p:cNvSpPr/>
          <p:nvPr/>
        </p:nvSpPr>
        <p:spPr>
          <a:xfrm>
            <a:off x="9829800" y="1554480"/>
            <a:ext cx="1325880" cy="13258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badge 2" descr="badg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529" y="1899209"/>
            <a:ext cx="636422" cy="636422"/>
          </a:xfrm>
          <a:prstGeom prst="rect">
            <a:avLst/>
          </a:prstGeom>
        </p:spPr>
      </p:pic>
      <p:sp>
        <p:nvSpPr>
          <p:cNvPr id="9" name="badge 3 circle"/>
          <p:cNvSpPr/>
          <p:nvPr/>
        </p:nvSpPr>
        <p:spPr>
          <a:xfrm>
            <a:off x="8229600" y="3154680"/>
            <a:ext cx="1325880" cy="13258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badge 3" descr="badg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329" y="3499409"/>
            <a:ext cx="636422" cy="636422"/>
          </a:xfrm>
          <a:prstGeom prst="rect">
            <a:avLst/>
          </a:prstGeom>
        </p:spPr>
      </p:pic>
      <p:sp>
        <p:nvSpPr>
          <p:cNvPr id="11" name="badge 4 circle"/>
          <p:cNvSpPr/>
          <p:nvPr/>
        </p:nvSpPr>
        <p:spPr>
          <a:xfrm>
            <a:off x="9829800" y="3154680"/>
            <a:ext cx="1325880" cy="13258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badge 4" descr="badg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529" y="3499409"/>
            <a:ext cx="636422" cy="63642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강사용 · 수업 전 체크리스트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prep 1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13258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☐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325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음악 사이트 1곳 결정 + QR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3258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가입 없이 생성 · 한국어 가사 · MP3 다운로드 · 광고/연령/약관 · 와이파이 동시 접속 확인 (후보: onlymusic.ai, songai.io, boppy.me, aimusicgen.ai)</a:t>
            </a:r>
            <a:endParaRPr lang="en-US" sz="1200" dirty="0"/>
          </a:p>
        </p:txBody>
      </p:sp>
      <p:sp>
        <p:nvSpPr>
          <p:cNvPr id="14" name="prep 2"/>
          <p:cNvSpPr/>
          <p:nvPr/>
        </p:nvSpPr>
        <p:spPr>
          <a:xfrm>
            <a:off x="548640" y="201168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0116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☐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예비 음원 10~15곡 패들렛 업로드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0116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사이트가 안 될 때 바로 받을 수 있게 장르별로</a:t>
            </a:r>
            <a:endParaRPr lang="en-US" sz="1200" dirty="0"/>
          </a:p>
        </p:txBody>
      </p:sp>
      <p:sp>
        <p:nvSpPr>
          <p:cNvPr id="18" name="prep 3"/>
          <p:cNvSpPr/>
          <p:nvPr/>
        </p:nvSpPr>
        <p:spPr>
          <a:xfrm>
            <a:off x="548640" y="269748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26974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☐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2697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워밍업 퀴즈 음원 3곡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6974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AI 곡 2개 + 사람이 만든 무료 음원 1개, 15초씩</a:t>
            </a:r>
            <a:endParaRPr lang="en-US" sz="1200" dirty="0"/>
          </a:p>
        </p:txBody>
      </p:sp>
      <p:sp>
        <p:nvSpPr>
          <p:cNvPr id="22" name="prep 4"/>
          <p:cNvSpPr/>
          <p:nvPr/>
        </p:nvSpPr>
        <p:spPr>
          <a:xfrm>
            <a:off x="548640" y="338328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3832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☐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383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패들렛 보드 + QR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383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작품 업로드용, 비공개 링크로</a:t>
            </a:r>
            <a:endParaRPr lang="en-US" sz="1200" dirty="0"/>
          </a:p>
        </p:txBody>
      </p:sp>
      <p:sp>
        <p:nvSpPr>
          <p:cNvPr id="26" name="prep 5"/>
          <p:cNvSpPr/>
          <p:nvPr/>
        </p:nvSpPr>
        <p:spPr>
          <a:xfrm>
            <a:off x="548640" y="406908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0690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☐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휴대폰 미러링 · 스피커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0690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CapCut 시연과 청음회용</a:t>
            </a:r>
            <a:endParaRPr lang="en-US" sz="1200" dirty="0"/>
          </a:p>
        </p:txBody>
      </p:sp>
      <p:sp>
        <p:nvSpPr>
          <p:cNvPr id="30" name="prep 6"/>
          <p:cNvSpPr/>
          <p:nvPr/>
        </p:nvSpPr>
        <p:spPr>
          <a:xfrm>
            <a:off x="548640" y="475488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47548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☐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47548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학생 사전 안내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7548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CapCut 설치, 충전, 이어폰(선택)</a:t>
            </a:r>
            <a:endParaRPr lang="en-US" sz="1200" dirty="0"/>
          </a:p>
        </p:txBody>
      </p:sp>
      <p:sp>
        <p:nvSpPr>
          <p:cNvPr id="34" name="prep 7"/>
          <p:cNvSpPr/>
          <p:nvPr/>
        </p:nvSpPr>
        <p:spPr>
          <a:xfrm>
            <a:off x="548640" y="544068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1520" y="54406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☐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5440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인쇄물 · 소품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54406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활동지·레시피 카드 1인 1장, 주사위, 시상용 간식·스티커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강사용 · 110분 시간표</a:t>
            </a:r>
            <a:endParaRPr lang="en-US" sz="3000" dirty="0"/>
          </a:p>
        </p:txBody>
      </p:sp>
      <p:sp>
        <p:nvSpPr>
          <p:cNvPr id="3" name="level pill"/>
          <p:cNvSpPr/>
          <p:nvPr/>
        </p:nvSpPr>
        <p:spPr>
          <a:xfrm>
            <a:off x="891540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91540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READY</a:t>
            </a:r>
            <a:endParaRPr lang="en-US" sz="1300" dirty="0"/>
          </a:p>
        </p:txBody>
      </p:sp>
      <p:sp>
        <p:nvSpPr>
          <p:cNvPr id="5" name="xp 1"/>
          <p:cNvSpPr/>
          <p:nvPr/>
        </p:nvSpPr>
        <p:spPr>
          <a:xfrm>
            <a:off x="10442448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6" name="xp 2"/>
          <p:cNvSpPr/>
          <p:nvPr/>
        </p:nvSpPr>
        <p:spPr>
          <a:xfrm>
            <a:off x="10680192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7" name="xp 3"/>
          <p:cNvSpPr/>
          <p:nvPr/>
        </p:nvSpPr>
        <p:spPr>
          <a:xfrm>
            <a:off x="10917936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8" name="xp 4"/>
          <p:cNvSpPr/>
          <p:nvPr/>
        </p:nvSpPr>
        <p:spPr>
          <a:xfrm>
            <a:off x="11155680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9" name="xp 5"/>
          <p:cNvSpPr/>
          <p:nvPr/>
        </p:nvSpPr>
        <p:spPr>
          <a:xfrm>
            <a:off x="11393424" y="548640"/>
            <a:ext cx="182880" cy="256032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tt 1"/>
          <p:cNvSpPr/>
          <p:nvPr/>
        </p:nvSpPr>
        <p:spPr>
          <a:xfrm>
            <a:off x="548640" y="1325880"/>
            <a:ext cx="110642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132588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14:20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13258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LV.0 아이스브레이킹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32588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기분 BGM · 이모지 퀴즈 · 장르 몸풀기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0" y="13258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8분</a:t>
            </a:r>
            <a:endParaRPr lang="en-US" sz="1400" dirty="0"/>
          </a:p>
        </p:txBody>
      </p:sp>
      <p:sp>
        <p:nvSpPr>
          <p:cNvPr id="15" name="tt 2"/>
          <p:cNvSpPr/>
          <p:nvPr/>
        </p:nvSpPr>
        <p:spPr>
          <a:xfrm>
            <a:off x="548640" y="1929384"/>
            <a:ext cx="110642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192938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14:28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19293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오리엔테이션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1929384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AI일까 사람일까 퀴즈 · AI 원리 · 규칙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0" y="192938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7분</a:t>
            </a:r>
            <a:endParaRPr lang="en-US" sz="1400" dirty="0"/>
          </a:p>
        </p:txBody>
      </p:sp>
      <p:sp>
        <p:nvSpPr>
          <p:cNvPr id="20" name="tt 3"/>
          <p:cNvSpPr/>
          <p:nvPr/>
        </p:nvSpPr>
        <p:spPr>
          <a:xfrm>
            <a:off x="548640" y="2532888"/>
            <a:ext cx="110642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25328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14:35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25328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LV.1 작사가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253288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주문 비유 · 템플릿 · 주사위 · 레시피 · 가사 · 미션1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0" y="25328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20분</a:t>
            </a:r>
            <a:endParaRPr lang="en-US" sz="1400" dirty="0"/>
          </a:p>
        </p:txBody>
      </p:sp>
      <p:sp>
        <p:nvSpPr>
          <p:cNvPr id="25" name="tt 4"/>
          <p:cNvSpPr/>
          <p:nvPr/>
        </p:nvSpPr>
        <p:spPr>
          <a:xfrm>
            <a:off x="548640" y="3136392"/>
            <a:ext cx="110642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313639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14:55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31363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LV.2 작곡가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3136392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 노래 만들기 15분 · 깜짝 청음회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0" y="31363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15분</a:t>
            </a:r>
            <a:endParaRPr lang="en-US" sz="1400" dirty="0"/>
          </a:p>
        </p:txBody>
      </p:sp>
      <p:sp>
        <p:nvSpPr>
          <p:cNvPr id="30" name="tt 5"/>
          <p:cNvSpPr/>
          <p:nvPr/>
        </p:nvSpPr>
        <p:spPr>
          <a:xfrm>
            <a:off x="548640" y="3739896"/>
            <a:ext cx="110642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373989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15:10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737360" y="373989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쉬는 시간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389120" y="373989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노래 저장 확인, 못 받은 학생은 예비 음원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424160" y="373989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10분</a:t>
            </a:r>
            <a:endParaRPr lang="en-US" sz="1400" dirty="0"/>
          </a:p>
        </p:txBody>
      </p:sp>
      <p:sp>
        <p:nvSpPr>
          <p:cNvPr id="35" name="tt 6"/>
          <p:cNvSpPr/>
          <p:nvPr/>
        </p:nvSpPr>
        <p:spPr>
          <a:xfrm>
            <a:off x="548640" y="4343400"/>
            <a:ext cx="110642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1520" y="43434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15:20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43434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LV.3 감독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389120" y="43434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촬영 꿀팁 · 촬영 빙고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424160" y="434340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12분</a:t>
            </a:r>
            <a:endParaRPr lang="en-US" sz="1400" dirty="0"/>
          </a:p>
        </p:txBody>
      </p:sp>
      <p:sp>
        <p:nvSpPr>
          <p:cNvPr id="40" name="tt 7"/>
          <p:cNvSpPr/>
          <p:nvPr/>
        </p:nvSpPr>
        <p:spPr>
          <a:xfrm>
            <a:off x="548640" y="4946904"/>
            <a:ext cx="110642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" y="494690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15:32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737360" y="49469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LV.4 편집자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389120" y="4946904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CapCut 5단계 · 레벨업 아이템 · 레드카드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424160" y="494690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23분</a:t>
            </a:r>
            <a:endParaRPr lang="en-US" sz="1400" dirty="0"/>
          </a:p>
        </p:txBody>
      </p:sp>
      <p:sp>
        <p:nvSpPr>
          <p:cNvPr id="45" name="tt 8"/>
          <p:cNvSpPr/>
          <p:nvPr/>
        </p:nvSpPr>
        <p:spPr>
          <a:xfrm>
            <a:off x="548640" y="5550408"/>
            <a:ext cx="110642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31520" y="555040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15:55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737360" y="55504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LV.5 시상식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4389120" y="555040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짝 감상 · 상영회 · 어워즈 · GAME CLEAR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0424160" y="55504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15분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Music Video Studio">
  <a:themeElements>
    <a:clrScheme name="AI Music Video Studio">
      <a:dk1>
        <a:srgbClr val="1B1035"/>
      </a:dk1>
      <a:lt1>
        <a:srgbClr val="FFFFFF"/>
      </a:lt1>
      <a:dk2>
        <a:srgbClr val="4A3F66"/>
      </a:dk2>
      <a:lt2>
        <a:srgbClr val="F3F0FA"/>
      </a:lt2>
      <a:accent1>
        <a:srgbClr val="7B3FE4"/>
      </a:accent1>
      <a:accent2>
        <a:srgbClr val="FF4F8B"/>
      </a:accent2>
      <a:accent3>
        <a:srgbClr val="13B8A6"/>
      </a:accent3>
      <a:accent4>
        <a:srgbClr val="FFB020"/>
      </a:accent4>
      <a:accent5>
        <a:srgbClr val="4C6FFF"/>
      </a:accent5>
      <a:accent6>
        <a:srgbClr val="B9AEDB"/>
      </a:accent6>
      <a:hlink>
        <a:srgbClr val="7B3FE4"/>
      </a:hlink>
      <a:folHlink>
        <a:srgbClr val="4A3F66"/>
      </a:folHlink>
    </a:clrScheme>
    <a:fontScheme name="AI Music Video Studi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 나는 AI 프로듀서</dc:title>
  <dc:subject>PptxGenJS Presentation</dc:subject>
  <dc:creator>PptxGenJS</dc:creator>
  <cp:lastModifiedBy>PptxGenJS</cp:lastModifiedBy>
  <cp:revision>1</cp:revision>
  <dcterms:created xsi:type="dcterms:W3CDTF">2026-10-21T00:29:32Z</dcterms:created>
  <dcterms:modified xsi:type="dcterms:W3CDTF">2026-10-21T00:29:32Z</dcterms:modified>
</cp:coreProperties>
</file>